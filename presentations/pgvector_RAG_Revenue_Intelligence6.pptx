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84987" y="135759"/>
            <a:ext cx="11991543" cy="6586482"/>
          </a:xfrm>
          <a:prstGeom prst="ellipse">
            <a:avLst/>
          </a:prstGeom>
          <a:solidFill>
            <a:srgbClr val="0C0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810" cy="685800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0"/>
            <a:ext cx="3810" cy="685800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0" y="0"/>
            <a:ext cx="3810" cy="685800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0" y="0"/>
            <a:ext cx="3810" cy="685800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0" y="0"/>
            <a:ext cx="3810" cy="685800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0" y="0"/>
            <a:ext cx="3810" cy="685800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0" y="0"/>
            <a:ext cx="3810" cy="685800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3810" cy="685800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0" y="0"/>
            <a:ext cx="3810" cy="685800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0"/>
            <a:ext cx="3810" cy="685800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0" y="0"/>
            <a:ext cx="3810" cy="685800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058400" y="0"/>
            <a:ext cx="3810" cy="685800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72800" y="0"/>
            <a:ext cx="3810" cy="685800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887200" y="0"/>
            <a:ext cx="3810" cy="685800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381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914400"/>
            <a:ext cx="12191695" cy="381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1828800"/>
            <a:ext cx="12191695" cy="381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2743200"/>
            <a:ext cx="12191695" cy="381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3657600"/>
            <a:ext cx="12191695" cy="381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572000"/>
            <a:ext cx="12191695" cy="381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5486400"/>
            <a:ext cx="12191695" cy="381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91695" cy="3810"/>
          </a:xfrm>
          <a:prstGeom prst="rect">
            <a:avLst/>
          </a:prstGeom>
          <a:solidFill>
            <a:srgbClr val="06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1554480"/>
            <a:ext cx="5760720" cy="508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749039" y="1828800"/>
            <a:ext cx="4663440" cy="384048"/>
          </a:xfrm>
          <a:prstGeom prst="roundRect">
            <a:avLst>
              <a:gd name="adj" fmla="val 10000"/>
            </a:avLst>
          </a:prstGeom>
          <a:solidFill>
            <a:srgbClr val="04202C"/>
          </a:solidFill>
          <a:ln w="12700">
            <a:solidFill>
              <a:srgbClr val="104858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49039" y="1865376"/>
            <a:ext cx="4663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6B6D4"/>
                </a:solidFill>
                <a:latin typeface="Consolas"/>
              </a:defRPr>
            </a:pPr>
            <a:r>
              <a:rPr sz="1100" dirty="0"/>
              <a:t>●  PRODUCTION-READY AI 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246888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E8F0FE"/>
                </a:solidFill>
                <a:latin typeface="Segoe UI"/>
              </a:defRPr>
            </a:pPr>
            <a:r>
              <a:t>Revenue Intelligence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2004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3B82F6"/>
                </a:solidFill>
                <a:latin typeface="Segoe UI"/>
              </a:rPr>
              <a:t>RAG </a:t>
            </a:r>
            <a:r>
              <a:rPr sz="5800" b="1">
                <a:solidFill>
                  <a:srgbClr val="06B6D4"/>
                </a:solidFill>
                <a:latin typeface="Segoe UI"/>
              </a:rPr>
              <a:t>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1148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FA3"/>
                </a:solidFill>
                <a:latin typeface="Segoe UI"/>
              </a:defRPr>
            </a:pPr>
            <a:r>
              <a:t>AI-powered PostgreSQL + pgvector system for real-time revenue leakage detection, semantic search, and intelligent analytics.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80160" y="4937760"/>
            <a:ext cx="2194560" cy="822960"/>
          </a:xfrm>
          <a:prstGeom prst="roundRect">
            <a:avLst>
              <a:gd name="adj" fmla="val 6000"/>
            </a:avLst>
          </a:prstGeom>
          <a:solidFill>
            <a:srgbClr val="060A10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280160" y="501091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B82F6"/>
                </a:solidFill>
                <a:latin typeface="Segoe UI"/>
              </a:defRPr>
            </a:pPr>
            <a:r>
              <a:t>2.9M+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4132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Consolas"/>
              </a:defRPr>
            </a:pPr>
            <a:r>
              <a:t>Total Records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0" y="4937760"/>
            <a:ext cx="2194560" cy="822960"/>
          </a:xfrm>
          <a:prstGeom prst="roundRect">
            <a:avLst>
              <a:gd name="adj" fmla="val 6000"/>
            </a:avLst>
          </a:prstGeom>
          <a:solidFill>
            <a:srgbClr val="030D0E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40480" y="501091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6B6D4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54132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Consolas"/>
              </a:defRPr>
            </a:pPr>
            <a:r>
              <a:t>Leakage Scenarios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937760"/>
            <a:ext cx="2194560" cy="822960"/>
          </a:xfrm>
          <a:prstGeom prst="roundRect">
            <a:avLst>
              <a:gd name="adj" fmla="val 6000"/>
            </a:avLst>
          </a:prstGeom>
          <a:solidFill>
            <a:srgbClr val="0A0810"/>
          </a:solidFill>
          <a:ln w="12700">
            <a:solidFill>
              <a:srgbClr val="2E1E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501091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5CF6"/>
                </a:solidFill>
                <a:latin typeface="Segoe UI"/>
              </a:defRPr>
            </a:pPr>
            <a:r>
              <a:t>1024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4132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Consolas"/>
              </a:defRPr>
            </a:pPr>
            <a:r>
              <a:t>Vector Dimensions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4937760"/>
            <a:ext cx="2194560" cy="822960"/>
          </a:xfrm>
          <a:prstGeom prst="roundRect">
            <a:avLst>
              <a:gd name="adj" fmla="val 6000"/>
            </a:avLst>
          </a:prstGeom>
          <a:solidFill>
            <a:srgbClr val="030D0A"/>
          </a:solidFill>
          <a:ln w="12700">
            <a:solidFill>
              <a:srgbClr val="053D2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61120" y="501091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0B981"/>
                </a:solidFill>
                <a:latin typeface="Segoe UI"/>
              </a:defRPr>
            </a:pPr>
            <a:r>
              <a:t>&lt;50ms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54132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Consolas"/>
              </a:defRPr>
            </a:pPr>
            <a:r>
              <a:t>Query Latency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45920" y="5989320"/>
            <a:ext cx="1234440" cy="256032"/>
          </a:xfrm>
          <a:prstGeom prst="roundRect">
            <a:avLst>
              <a:gd name="adj" fmla="val 10000"/>
            </a:avLst>
          </a:prstGeom>
          <a:solidFill>
            <a:srgbClr val="0D1520"/>
          </a:solidFill>
          <a:ln w="12700">
            <a:solidFill>
              <a:srgbClr val="1A2435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645920" y="6007608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6B7FA3"/>
                </a:solidFill>
                <a:latin typeface="Consolas"/>
              </a:defRPr>
            </a:pPr>
            <a:r>
              <a:t>PostgreSQL 17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944368" y="5989320"/>
            <a:ext cx="1234440" cy="256032"/>
          </a:xfrm>
          <a:prstGeom prst="roundRect">
            <a:avLst>
              <a:gd name="adj" fmla="val 10000"/>
            </a:avLst>
          </a:prstGeom>
          <a:solidFill>
            <a:srgbClr val="0D1520"/>
          </a:solidFill>
          <a:ln w="12700">
            <a:solidFill>
              <a:srgbClr val="1A2435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44368" y="6007608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6B7FA3"/>
                </a:solidFill>
                <a:latin typeface="Consolas"/>
              </a:defRPr>
            </a:pPr>
            <a:r>
              <a:t>pgvector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42816" y="5989320"/>
            <a:ext cx="1234440" cy="256032"/>
          </a:xfrm>
          <a:prstGeom prst="roundRect">
            <a:avLst>
              <a:gd name="adj" fmla="val 10000"/>
            </a:avLst>
          </a:prstGeom>
          <a:solidFill>
            <a:srgbClr val="0D1520"/>
          </a:solidFill>
          <a:ln w="12700">
            <a:solidFill>
              <a:srgbClr val="1A2435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242816" y="6007608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6B7FA3"/>
                </a:solidFill>
                <a:latin typeface="Consolas"/>
              </a:defRPr>
            </a:pPr>
            <a:r>
              <a:t>Python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41264" y="5989320"/>
            <a:ext cx="1234440" cy="256032"/>
          </a:xfrm>
          <a:prstGeom prst="roundRect">
            <a:avLst>
              <a:gd name="adj" fmla="val 10000"/>
            </a:avLst>
          </a:prstGeom>
          <a:solidFill>
            <a:srgbClr val="0D1520"/>
          </a:solidFill>
          <a:ln w="12700">
            <a:solidFill>
              <a:srgbClr val="1A2435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541264" y="6007608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6B7FA3"/>
                </a:solidFill>
                <a:latin typeface="Consolas"/>
              </a:defRPr>
            </a:pPr>
            <a:r>
              <a:t>Docker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39712" y="5989320"/>
            <a:ext cx="1234440" cy="256032"/>
          </a:xfrm>
          <a:prstGeom prst="roundRect">
            <a:avLst>
              <a:gd name="adj" fmla="val 10000"/>
            </a:avLst>
          </a:prstGeom>
          <a:solidFill>
            <a:srgbClr val="0D1520"/>
          </a:solidFill>
          <a:ln w="12700">
            <a:solidFill>
              <a:srgbClr val="1A2435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839712" y="6007608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6B7FA3"/>
                </a:solidFill>
                <a:latin typeface="Consolas"/>
              </a:defRPr>
            </a:pPr>
            <a:r>
              <a:t>Jina AI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38160" y="5989320"/>
            <a:ext cx="1234440" cy="256032"/>
          </a:xfrm>
          <a:prstGeom prst="roundRect">
            <a:avLst>
              <a:gd name="adj" fmla="val 10000"/>
            </a:avLst>
          </a:prstGeom>
          <a:solidFill>
            <a:srgbClr val="0D1520"/>
          </a:solidFill>
          <a:ln w="12700">
            <a:solidFill>
              <a:srgbClr val="1A2435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138160" y="6007608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6B7FA3"/>
                </a:solidFill>
                <a:latin typeface="Consolas"/>
              </a:defRPr>
            </a:pPr>
            <a:r>
              <a:t>IVFFlat Index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36608" y="5989320"/>
            <a:ext cx="1234440" cy="256032"/>
          </a:xfrm>
          <a:prstGeom prst="roundRect">
            <a:avLst>
              <a:gd name="adj" fmla="val 10000"/>
            </a:avLst>
          </a:prstGeom>
          <a:solidFill>
            <a:srgbClr val="0D1520"/>
          </a:solidFill>
          <a:ln w="12700">
            <a:solidFill>
              <a:srgbClr val="1A2435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436608" y="6007608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6B7FA3"/>
                </a:solidFill>
                <a:latin typeface="Consolas"/>
              </a:defRPr>
            </a:pPr>
            <a:r>
              <a:t>pgvector:pg17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rPr sz="1600" dirty="0"/>
              <a:t>01 —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8F0FE"/>
                </a:solidFill>
                <a:latin typeface="Segoe UI"/>
              </a:defRPr>
            </a:pPr>
            <a:r>
              <a:t>Why RAG inside PostgreSQL?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FA3"/>
                </a:solidFill>
                <a:latin typeface="Segoe UI"/>
              </a:defRPr>
            </a:pPr>
            <a:r>
              <a:t>Instead of a separate vector database, embeddings live alongside your transactional data. One query joins structured analytics with semantic context — zero infra complexity.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060A10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2066544"/>
            <a:ext cx="3200400" cy="3175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8BD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2240280"/>
            <a:ext cx="411480" cy="411480"/>
          </a:xfrm>
          <a:prstGeom prst="ellipse">
            <a:avLst/>
          </a:prstGeom>
          <a:solidFill>
            <a:srgbClr val="0B1A31"/>
          </a:solidFill>
          <a:ln w="12700">
            <a:solidFill>
              <a:srgbClr val="13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8F0FE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40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0FE"/>
                </a:solidFill>
                <a:latin typeface="Segoe UI"/>
              </a:defRPr>
            </a:pPr>
            <a:r>
              <a:t>Semantic 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Segoe UI"/>
              </a:defRPr>
            </a:pPr>
            <a:r>
              <a:t>Cosine similarity search over 1024-dim Jina embeddings retrieves contextually relevant leakage reasons, reviews, and schema docs — not just keyword matches.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01168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030D0E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2066544"/>
            <a:ext cx="3200400" cy="3175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100000">
                <a:srgbClr val="56FF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89120" y="2240280"/>
            <a:ext cx="411480" cy="411480"/>
          </a:xfrm>
          <a:prstGeom prst="ellipse">
            <a:avLst/>
          </a:prstGeom>
          <a:solidFill>
            <a:srgbClr val="01242A"/>
          </a:solidFill>
          <a:ln w="12700">
            <a:solidFill>
              <a:srgbClr val="02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22677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8F0FE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240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0FE"/>
                </a:solidFill>
                <a:latin typeface="Segoe UI"/>
              </a:defRPr>
            </a:pPr>
            <a:r>
              <a:t>Zero ETL Overhead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743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Segoe UI"/>
              </a:defRPr>
            </a:pPr>
            <a:r>
              <a:t>Embeddings are stored directly in pgvector alongside source data. No sync pipeline between your operational DB and a separate vector store. One source of truth.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201168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0A0810"/>
          </a:solidFill>
          <a:ln w="12700">
            <a:solidFill>
              <a:srgbClr val="2E1E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01000" y="2066544"/>
            <a:ext cx="3200400" cy="3175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DBAC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046720" y="2240280"/>
            <a:ext cx="411480" cy="411480"/>
          </a:xfrm>
          <a:prstGeom prst="ellipse">
            <a:avLst/>
          </a:prstGeom>
          <a:solidFill>
            <a:srgbClr val="1B1231"/>
          </a:solidFill>
          <a:ln w="12700">
            <a:solidFill>
              <a:srgbClr val="2E1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22677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8F0FE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240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0FE"/>
                </a:solidFill>
                <a:latin typeface="Segoe UI"/>
              </a:defRPr>
            </a:pPr>
            <a:r>
              <a:t>Hybrid 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743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Segoe UI"/>
              </a:defRPr>
            </a:pPr>
            <a:r>
              <a:t>Combine pgvector ANN search with standard SQL filters. Retrieve 'high-risk orders with negative margin AND semantically similar reviews' in a single query.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1480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030D0A"/>
          </a:solidFill>
          <a:ln w="12700">
            <a:solidFill>
              <a:srgbClr val="053D2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4169664"/>
            <a:ext cx="3200400" cy="31750"/>
          </a:xfrm>
          <a:prstGeom prst="rect">
            <a:avLst/>
          </a:prstGeom>
          <a:gradFill rotWithShape="1">
            <a:gsLst>
              <a:gs pos="0">
                <a:srgbClr val="10B981"/>
              </a:gs>
              <a:gs pos="100000">
                <a:srgbClr val="60FFD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31520" y="4343400"/>
            <a:ext cx="411480" cy="411480"/>
          </a:xfrm>
          <a:prstGeom prst="ellipse">
            <a:avLst/>
          </a:prstGeom>
          <a:solidFill>
            <a:srgbClr val="032519"/>
          </a:solidFill>
          <a:ln w="12700">
            <a:solidFill>
              <a:srgbClr val="053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3708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8F0FE"/>
                </a:solidFill>
                <a:latin typeface="Segoe UI"/>
              </a:defRPr>
            </a:pPr>
            <a:r>
              <a:t>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0FE"/>
                </a:solidFill>
                <a:latin typeface="Segoe UI"/>
              </a:defRPr>
            </a:pPr>
            <a:r>
              <a:t>Production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46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Segoe UI"/>
              </a:defRPr>
            </a:pPr>
            <a:r>
              <a:t>Dedicated chatbot_readonly role with statement timeouts, sql_guard injection protection, and retrieval_cache for deduplication.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0" y="411480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100B03"/>
          </a:solidFill>
          <a:ln w="12700">
            <a:solidFill>
              <a:srgbClr val="513403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43400" y="4169664"/>
            <a:ext cx="3200400" cy="31750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FFEE5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389120" y="4343400"/>
            <a:ext cx="411480" cy="411480"/>
          </a:xfrm>
          <a:prstGeom prst="ellipse">
            <a:avLst/>
          </a:prstGeom>
          <a:solidFill>
            <a:srgbClr val="311F02"/>
          </a:solidFill>
          <a:ln w="12700">
            <a:solidFill>
              <a:srgbClr val="5134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0" y="43708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8F0FE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0FE"/>
                </a:solidFill>
                <a:latin typeface="Segoe UI"/>
              </a:defRPr>
            </a:pPr>
            <a:r>
              <a:t>Materialized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846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Segoe UI"/>
              </a:defRPr>
            </a:pPr>
            <a:r>
              <a:t>4 pre-computed materialized views (dashboard, monthly, seller risk, scenario) refresh concurrently. The AI agent queries MVs, never raw tables, for sub-50ms responses.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411480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100606"/>
          </a:solidFill>
          <a:ln w="12700">
            <a:solidFill>
              <a:srgbClr val="4F161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01000" y="4169664"/>
            <a:ext cx="3200400" cy="31750"/>
          </a:xfrm>
          <a:prstGeom prst="rect">
            <a:avLst/>
          </a:prstGeom>
          <a:gradFill rotWithShape="1">
            <a:gsLst>
              <a:gs pos="0">
                <a:srgbClr val="EF4444"/>
              </a:gs>
              <a:gs pos="100000">
                <a:srgbClr val="FF949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046720" y="4343400"/>
            <a:ext cx="411480" cy="411480"/>
          </a:xfrm>
          <a:prstGeom prst="ellipse">
            <a:avLst/>
          </a:prstGeom>
          <a:solidFill>
            <a:srgbClr val="2F0D0D"/>
          </a:solidFill>
          <a:ln w="12700">
            <a:solidFill>
              <a:srgbClr val="4F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46720" y="43708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8F0FE"/>
                </a:solidFill>
                <a:latin typeface="Segoe UI"/>
              </a:defRPr>
            </a:pPr>
            <a:r>
              <a:t>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0FE"/>
                </a:solidFill>
                <a:latin typeface="Segoe UI"/>
              </a:defRPr>
            </a:pPr>
            <a:r>
              <a:t>Incremental Re-embedding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846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Segoe UI"/>
              </a:defRPr>
            </a:pPr>
            <a:r>
              <a:t>needs_reembedding flag on every document. Only changed records are re-vectorized. Batch size 50, exponential backoff, dimension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rPr sz="1600" dirty="0"/>
              <a:t>02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8F0FE"/>
                </a:solidFill>
                <a:latin typeface="Segoe UI"/>
              </a:defRPr>
            </a:pPr>
            <a:r>
              <a:t>End-to-End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FA3"/>
                </a:solidFill>
                <a:latin typeface="Segoe UI"/>
              </a:defRPr>
            </a:pPr>
            <a:r>
              <a:t>A layered architecture where every component has a single responsibility. Data flows from raw CSV ingestion through ML scoring to vector-enriched AI responses.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598" y="2605548"/>
            <a:ext cx="12191999" cy="2633964"/>
          </a:xfrm>
          <a:prstGeom prst="roundRect">
            <a:avLst>
              <a:gd name="adj" fmla="val 4000"/>
            </a:avLst>
          </a:prstGeom>
          <a:solidFill>
            <a:srgbClr val="060A12"/>
          </a:solidFill>
          <a:ln w="12700">
            <a:solidFill>
              <a:srgbClr val="1A2435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4130040" y="2706510"/>
            <a:ext cx="3931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B7FA3"/>
                </a:solidFill>
                <a:latin typeface="Consolas"/>
              </a:defRPr>
            </a:pPr>
            <a:r>
              <a:rPr sz="1600" dirty="0"/>
              <a:t>END-TO-END DATA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5281" y="3236976"/>
            <a:ext cx="1344168" cy="1481328"/>
          </a:xfrm>
          <a:prstGeom prst="roundRect">
            <a:avLst>
              <a:gd name="adj" fmla="val 10000"/>
            </a:avLst>
          </a:prstGeom>
          <a:solidFill>
            <a:srgbClr val="07101E"/>
          </a:solidFill>
          <a:ln w="12700">
            <a:solidFill>
              <a:srgbClr val="132B52"/>
            </a:solidFill>
          </a:ln>
          <a:effectLst>
            <a:glow rad="203200">
              <a:srgbClr val="3B82F6">
                <a:alpha val="1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ounded Rectangle 7"/>
          <p:cNvSpPr/>
          <p:nvPr/>
        </p:nvSpPr>
        <p:spPr>
          <a:xfrm>
            <a:off x="290145" y="3291840"/>
            <a:ext cx="1234440" cy="1371600"/>
          </a:xfrm>
          <a:prstGeom prst="roundRect">
            <a:avLst>
              <a:gd name="adj" fmla="val 10000"/>
            </a:avLst>
          </a:prstGeom>
          <a:solidFill>
            <a:srgbClr val="0A121D"/>
          </a:solidFill>
          <a:ln w="1905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381585" y="3346704"/>
            <a:ext cx="1051560" cy="38100"/>
          </a:xfrm>
          <a:prstGeom prst="rect">
            <a:avLst/>
          </a:prstGeom>
          <a:gradFill rotWithShape="1">
            <a:gsLst>
              <a:gs pos="0">
                <a:srgbClr val="77BEFF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290145" y="3344122"/>
            <a:ext cx="1234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E8F0FE"/>
                </a:solidFill>
                <a:latin typeface="Segoe UI"/>
              </a:defRPr>
            </a:pPr>
            <a:r>
              <a:rPr sz="3200" dirty="0"/>
              <a:t>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865" y="3840480"/>
            <a:ext cx="114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8F0FE"/>
                </a:solidFill>
                <a:latin typeface="Segoe UI"/>
              </a:defRPr>
            </a:pPr>
            <a:r>
              <a:rPr sz="1400" dirty="0"/>
              <a:t>CSV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865" y="4096512"/>
            <a:ext cx="1143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FA3"/>
                </a:solidFill>
                <a:latin typeface="Segoe UI"/>
              </a:defRPr>
            </a:pPr>
            <a:r>
              <a:rPr sz="1000"/>
              <a:t>Ingestion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42873" y="3977640"/>
            <a:ext cx="466344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972641" y="3236976"/>
            <a:ext cx="1344168" cy="1481328"/>
          </a:xfrm>
          <a:prstGeom prst="roundRect">
            <a:avLst>
              <a:gd name="adj" fmla="val 10000"/>
            </a:avLst>
          </a:prstGeom>
          <a:solidFill>
            <a:srgbClr val="00161A"/>
          </a:solidFill>
          <a:ln w="12700">
            <a:solidFill>
              <a:srgbClr val="023C46"/>
            </a:solidFill>
          </a:ln>
          <a:effectLst>
            <a:glow rad="203200">
              <a:srgbClr val="06B6D4">
                <a:alpha val="1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ounded Rectangle 14"/>
          <p:cNvSpPr/>
          <p:nvPr/>
        </p:nvSpPr>
        <p:spPr>
          <a:xfrm>
            <a:off x="2027505" y="3291840"/>
            <a:ext cx="1234440" cy="1371600"/>
          </a:xfrm>
          <a:prstGeom prst="roundRect">
            <a:avLst>
              <a:gd name="adj" fmla="val 10000"/>
            </a:avLst>
          </a:prstGeom>
          <a:solidFill>
            <a:srgbClr val="05171A"/>
          </a:solidFill>
          <a:ln w="1905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ectangle 15"/>
          <p:cNvSpPr/>
          <p:nvPr/>
        </p:nvSpPr>
        <p:spPr>
          <a:xfrm>
            <a:off x="2118945" y="3346704"/>
            <a:ext cx="1051560" cy="38100"/>
          </a:xfrm>
          <a:prstGeom prst="rect">
            <a:avLst/>
          </a:prstGeom>
          <a:gradFill rotWithShape="1">
            <a:gsLst>
              <a:gs pos="0">
                <a:srgbClr val="42F2FF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2027505" y="3392864"/>
            <a:ext cx="1234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E8F0FE"/>
                </a:solidFill>
                <a:latin typeface="Segoe UI"/>
              </a:defRPr>
            </a:pPr>
            <a:r>
              <a:rPr sz="3200" dirty="0"/>
              <a:t>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3225" y="3840480"/>
            <a:ext cx="12618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8F0FE"/>
                </a:solidFill>
                <a:latin typeface="Segoe UI"/>
              </a:defRPr>
            </a:pPr>
            <a:r>
              <a:rPr sz="1400" dirty="0"/>
              <a:t>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3225" y="4096512"/>
            <a:ext cx="1143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FA3"/>
                </a:solidFill>
                <a:latin typeface="Segoe UI"/>
              </a:defRPr>
            </a:pPr>
            <a:r>
              <a:rPr sz="1000"/>
              <a:t>ecommerce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80233" y="3977640"/>
            <a:ext cx="466344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710001" y="3236976"/>
            <a:ext cx="1344168" cy="1481328"/>
          </a:xfrm>
          <a:prstGeom prst="roundRect">
            <a:avLst>
              <a:gd name="adj" fmla="val 10000"/>
            </a:avLst>
          </a:prstGeom>
          <a:solidFill>
            <a:srgbClr val="110B1E"/>
          </a:solidFill>
          <a:ln w="12700">
            <a:solidFill>
              <a:srgbClr val="2E1E52"/>
            </a:solidFill>
          </a:ln>
          <a:effectLst>
            <a:glow rad="203200">
              <a:srgbClr val="8B5CF6">
                <a:alpha val="1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ounded Rectangle 21"/>
          <p:cNvSpPr/>
          <p:nvPr/>
        </p:nvSpPr>
        <p:spPr>
          <a:xfrm>
            <a:off x="3764865" y="3291840"/>
            <a:ext cx="1234440" cy="1371600"/>
          </a:xfrm>
          <a:prstGeom prst="roundRect">
            <a:avLst>
              <a:gd name="adj" fmla="val 10000"/>
            </a:avLst>
          </a:prstGeom>
          <a:solidFill>
            <a:srgbClr val="120E1D"/>
          </a:solidFill>
          <a:ln w="19050">
            <a:solidFill>
              <a:srgbClr val="2E1E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ectangle 22"/>
          <p:cNvSpPr/>
          <p:nvPr/>
        </p:nvSpPr>
        <p:spPr>
          <a:xfrm>
            <a:off x="3856305" y="3346704"/>
            <a:ext cx="1051560" cy="38100"/>
          </a:xfrm>
          <a:prstGeom prst="rect">
            <a:avLst/>
          </a:prstGeom>
          <a:gradFill rotWithShape="1">
            <a:gsLst>
              <a:gs pos="0">
                <a:srgbClr val="C798FF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3764865" y="3348669"/>
            <a:ext cx="1234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E8F0FE"/>
                </a:solidFill>
                <a:latin typeface="Segoe UI"/>
              </a:defRPr>
            </a:pPr>
            <a:r>
              <a:rPr sz="3200" dirty="0"/>
              <a:t>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585" y="3840480"/>
            <a:ext cx="114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8F0FE"/>
                </a:solidFill>
                <a:latin typeface="Segoe UI"/>
              </a:defRPr>
            </a:pPr>
            <a:r>
              <a:rPr sz="1400"/>
              <a:t>ML 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0585" y="4096512"/>
            <a:ext cx="1143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FA3"/>
                </a:solidFill>
                <a:latin typeface="Segoe UI"/>
              </a:defRPr>
            </a:pPr>
            <a:r>
              <a:rPr sz="1000"/>
              <a:t>IF + LOF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17593" y="3977640"/>
            <a:ext cx="466344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447361" y="3236976"/>
            <a:ext cx="1344168" cy="1481328"/>
          </a:xfrm>
          <a:prstGeom prst="roundRect">
            <a:avLst>
              <a:gd name="adj" fmla="val 10000"/>
            </a:avLst>
          </a:prstGeom>
          <a:solidFill>
            <a:srgbClr val="1E1301"/>
          </a:solidFill>
          <a:ln w="12700">
            <a:solidFill>
              <a:srgbClr val="513403"/>
            </a:solidFill>
          </a:ln>
          <a:effectLst>
            <a:glow rad="203200">
              <a:srgbClr val="F59E0B">
                <a:alpha val="1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ounded Rectangle 28"/>
          <p:cNvSpPr/>
          <p:nvPr/>
        </p:nvSpPr>
        <p:spPr>
          <a:xfrm>
            <a:off x="5502225" y="3291840"/>
            <a:ext cx="1234440" cy="1371600"/>
          </a:xfrm>
          <a:prstGeom prst="roundRect">
            <a:avLst>
              <a:gd name="adj" fmla="val 10000"/>
            </a:avLst>
          </a:prstGeom>
          <a:solidFill>
            <a:srgbClr val="1D1406"/>
          </a:solidFill>
          <a:ln w="19050">
            <a:solidFill>
              <a:srgbClr val="513403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Rectangle 29"/>
          <p:cNvSpPr/>
          <p:nvPr/>
        </p:nvSpPr>
        <p:spPr>
          <a:xfrm>
            <a:off x="5593665" y="3346704"/>
            <a:ext cx="1051560" cy="38100"/>
          </a:xfrm>
          <a:prstGeom prst="rect">
            <a:avLst/>
          </a:prstGeom>
          <a:gradFill rotWithShape="1">
            <a:gsLst>
              <a:gs pos="0">
                <a:srgbClr val="FFDA47"/>
              </a:gs>
              <a:gs pos="100000">
                <a:srgbClr val="F59E0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5502225" y="3365754"/>
            <a:ext cx="1234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E8F0FE"/>
                </a:solidFill>
                <a:latin typeface="Segoe UI"/>
              </a:defRPr>
            </a:pPr>
            <a:r>
              <a:rPr sz="3200" dirty="0"/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20513" y="3867825"/>
            <a:ext cx="12618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8F0FE"/>
                </a:solidFill>
                <a:latin typeface="Segoe UI"/>
              </a:defRPr>
            </a:pPr>
            <a:r>
              <a:rPr sz="1400" dirty="0"/>
              <a:t>Materialized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47945" y="4096512"/>
            <a:ext cx="12984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FA3"/>
                </a:solidFill>
                <a:latin typeface="Segoe UI"/>
              </a:defRPr>
            </a:pPr>
            <a:r>
              <a:rPr lang="en-US" sz="1000" dirty="0"/>
              <a:t>Views</a:t>
            </a:r>
            <a:endParaRPr sz="1000" dirty="0"/>
          </a:p>
        </p:txBody>
      </p:sp>
      <p:cxnSp>
        <p:nvCxnSpPr>
          <p:cNvPr id="34" name="Connector 33"/>
          <p:cNvCxnSpPr/>
          <p:nvPr/>
        </p:nvCxnSpPr>
        <p:spPr>
          <a:xfrm>
            <a:off x="6754953" y="3977640"/>
            <a:ext cx="466344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184721" y="3236976"/>
            <a:ext cx="1344168" cy="1481328"/>
          </a:xfrm>
          <a:prstGeom prst="roundRect">
            <a:avLst>
              <a:gd name="adj" fmla="val 10000"/>
            </a:avLst>
          </a:prstGeom>
          <a:solidFill>
            <a:srgbClr val="021710"/>
          </a:solidFill>
          <a:ln w="12700">
            <a:solidFill>
              <a:srgbClr val="053D2B"/>
            </a:solidFill>
          </a:ln>
          <a:effectLst>
            <a:glow rad="203200">
              <a:srgbClr val="10B981">
                <a:alpha val="1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Rounded Rectangle 35"/>
          <p:cNvSpPr/>
          <p:nvPr/>
        </p:nvSpPr>
        <p:spPr>
          <a:xfrm>
            <a:off x="7239585" y="3291840"/>
            <a:ext cx="1234440" cy="1371600"/>
          </a:xfrm>
          <a:prstGeom prst="roundRect">
            <a:avLst>
              <a:gd name="adj" fmla="val 10000"/>
            </a:avLst>
          </a:prstGeom>
          <a:solidFill>
            <a:srgbClr val="061711"/>
          </a:solidFill>
          <a:ln w="19050">
            <a:solidFill>
              <a:srgbClr val="053D2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Rectangle 36"/>
          <p:cNvSpPr/>
          <p:nvPr/>
        </p:nvSpPr>
        <p:spPr>
          <a:xfrm>
            <a:off x="7331025" y="3346704"/>
            <a:ext cx="1051560" cy="38100"/>
          </a:xfrm>
          <a:prstGeom prst="rect">
            <a:avLst/>
          </a:prstGeom>
          <a:gradFill rotWithShape="1">
            <a:gsLst>
              <a:gs pos="0">
                <a:srgbClr val="4CF5BD"/>
              </a:gs>
              <a:gs pos="100000">
                <a:srgbClr val="10B98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7248729" y="3348669"/>
            <a:ext cx="1234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E8F0FE"/>
                </a:solidFill>
                <a:latin typeface="Segoe UI"/>
              </a:defRPr>
            </a:pPr>
            <a:r>
              <a:rPr sz="3200" dirty="0"/>
              <a:t>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5305" y="3840480"/>
            <a:ext cx="114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8F0FE"/>
                </a:solidFill>
                <a:latin typeface="Segoe UI"/>
              </a:defRPr>
            </a:pPr>
            <a:r>
              <a:rPr sz="1400"/>
              <a:t>Jina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5305" y="4096512"/>
            <a:ext cx="1143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FA3"/>
                </a:solidFill>
                <a:latin typeface="Segoe UI"/>
              </a:defRPr>
            </a:pPr>
            <a:r>
              <a:rPr sz="1000"/>
              <a:t>Embeddings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492313" y="3977640"/>
            <a:ext cx="466344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922081" y="3236976"/>
            <a:ext cx="1344168" cy="1481328"/>
          </a:xfrm>
          <a:prstGeom prst="roundRect">
            <a:avLst>
              <a:gd name="adj" fmla="val 10000"/>
            </a:avLst>
          </a:prstGeom>
          <a:solidFill>
            <a:srgbClr val="1D0808"/>
          </a:solidFill>
          <a:ln w="12700">
            <a:solidFill>
              <a:srgbClr val="4F1616"/>
            </a:solidFill>
          </a:ln>
          <a:effectLst>
            <a:glow rad="203200">
              <a:srgbClr val="EF4444">
                <a:alpha val="1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3" name="Rounded Rectangle 42"/>
          <p:cNvSpPr/>
          <p:nvPr/>
        </p:nvSpPr>
        <p:spPr>
          <a:xfrm>
            <a:off x="8976945" y="3291840"/>
            <a:ext cx="1234440" cy="1371600"/>
          </a:xfrm>
          <a:prstGeom prst="roundRect">
            <a:avLst>
              <a:gd name="adj" fmla="val 10000"/>
            </a:avLst>
          </a:prstGeom>
          <a:solidFill>
            <a:srgbClr val="1C0B0B"/>
          </a:solidFill>
          <a:ln w="19050">
            <a:solidFill>
              <a:srgbClr val="4F161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Rectangle 43"/>
          <p:cNvSpPr/>
          <p:nvPr/>
        </p:nvSpPr>
        <p:spPr>
          <a:xfrm>
            <a:off x="9068385" y="3346704"/>
            <a:ext cx="1051560" cy="38100"/>
          </a:xfrm>
          <a:prstGeom prst="rect">
            <a:avLst/>
          </a:prstGeom>
          <a:gradFill rotWithShape="1">
            <a:gsLst>
              <a:gs pos="0">
                <a:srgbClr val="FF8080"/>
              </a:gs>
              <a:gs pos="100000">
                <a:srgbClr val="EF444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TextBox 44"/>
          <p:cNvSpPr txBox="1"/>
          <p:nvPr/>
        </p:nvSpPr>
        <p:spPr>
          <a:xfrm>
            <a:off x="8976945" y="3400756"/>
            <a:ext cx="1234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E8F0FE"/>
                </a:solidFill>
                <a:latin typeface="Segoe UI"/>
              </a:defRPr>
            </a:pPr>
            <a:r>
              <a:rPr sz="3200" dirty="0"/>
              <a:t>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22665" y="3840480"/>
            <a:ext cx="114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8F0FE"/>
                </a:solidFill>
                <a:latin typeface="Segoe UI"/>
              </a:defRPr>
            </a:pPr>
            <a:r>
              <a:rPr sz="1400"/>
              <a:t>pgvector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22665" y="4096512"/>
            <a:ext cx="1143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FA3"/>
                </a:solidFill>
                <a:latin typeface="Segoe UI"/>
              </a:defRPr>
            </a:pPr>
            <a:r>
              <a:rPr sz="1000"/>
              <a:t>RAG Store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229673" y="3977640"/>
            <a:ext cx="466344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0659441" y="3236976"/>
            <a:ext cx="1344168" cy="1481328"/>
          </a:xfrm>
          <a:prstGeom prst="roundRect">
            <a:avLst>
              <a:gd name="adj" fmla="val 10000"/>
            </a:avLst>
          </a:prstGeom>
          <a:solidFill>
            <a:srgbClr val="07101E"/>
          </a:solidFill>
          <a:ln w="12700">
            <a:solidFill>
              <a:srgbClr val="132B52"/>
            </a:solidFill>
          </a:ln>
          <a:effectLst>
            <a:glow rad="203200">
              <a:srgbClr val="3B82F6">
                <a:alpha val="1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10714305" y="3291840"/>
            <a:ext cx="1234440" cy="1371600"/>
          </a:xfrm>
          <a:prstGeom prst="roundRect">
            <a:avLst>
              <a:gd name="adj" fmla="val 10000"/>
            </a:avLst>
          </a:prstGeom>
          <a:solidFill>
            <a:srgbClr val="0A121D"/>
          </a:solidFill>
          <a:ln w="1905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1" name="Rectangle 50"/>
          <p:cNvSpPr/>
          <p:nvPr/>
        </p:nvSpPr>
        <p:spPr>
          <a:xfrm>
            <a:off x="10805745" y="3346704"/>
            <a:ext cx="1051560" cy="38100"/>
          </a:xfrm>
          <a:prstGeom prst="rect">
            <a:avLst/>
          </a:prstGeom>
          <a:gradFill rotWithShape="1">
            <a:gsLst>
              <a:gs pos="0">
                <a:srgbClr val="77BEFF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2" name="TextBox 51"/>
          <p:cNvSpPr txBox="1"/>
          <p:nvPr/>
        </p:nvSpPr>
        <p:spPr>
          <a:xfrm>
            <a:off x="10714305" y="3400302"/>
            <a:ext cx="1234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E8F0FE"/>
                </a:solidFill>
                <a:latin typeface="Segoe UI"/>
              </a:defRPr>
            </a:pPr>
            <a:r>
              <a:rPr sz="3200" dirty="0"/>
              <a:t>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60025" y="3840480"/>
            <a:ext cx="114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8F0FE"/>
                </a:solidFill>
                <a:latin typeface="Segoe UI"/>
              </a:defRPr>
            </a:pPr>
            <a:r>
              <a:rPr sz="1400"/>
              <a:t>AI Chatbot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60025" y="4096512"/>
            <a:ext cx="1143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FA3"/>
                </a:solidFill>
                <a:latin typeface="Segoe UI"/>
              </a:defRPr>
            </a:pPr>
            <a:r>
              <a:rPr sz="1000"/>
              <a:t>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rPr sz="1600" dirty="0"/>
              <a:t>02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8F0FE"/>
                </a:solidFill>
                <a:latin typeface="Segoe UI"/>
              </a:defRPr>
            </a:pPr>
            <a:r>
              <a:t>System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94960" cy="2560320"/>
          </a:xfrm>
          <a:prstGeom prst="roundRect">
            <a:avLst>
              <a:gd name="adj" fmla="val 5000"/>
            </a:avLst>
          </a:prstGeom>
          <a:solidFill>
            <a:srgbClr val="04080E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0800" cy="246888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8BD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5029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B82F6"/>
                </a:solidFill>
                <a:latin typeface="Consolas"/>
              </a:defRPr>
            </a:pPr>
            <a:r>
              <a:rPr sz="1050"/>
              <a:t>◈  DATA LAYER — ecommerce schema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655064"/>
            <a:ext cx="64008" cy="640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rPr sz="1050"/>
              <a:t>orders — 298K rows, core fact table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039112"/>
            <a:ext cx="64008" cy="640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1005840" y="1984248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rPr sz="1050"/>
              <a:t>customers — 253K rows, segments + churn risk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423160"/>
            <a:ext cx="64008" cy="640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1005840" y="2368296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rPr sz="1050"/>
              <a:t>order_items — 435K rows, line items + discounts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807208"/>
            <a:ext cx="64008" cy="640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1005840" y="2752344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rPr sz="1050"/>
              <a:t>payments, shipping, refunds, reviews, products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191256"/>
            <a:ext cx="64008" cy="640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1005840" y="3136392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rPr sz="1050"/>
              <a:t>GENERATED columns — order_month, fee_to_cost_ratio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188720"/>
            <a:ext cx="5394960" cy="2560320"/>
          </a:xfrm>
          <a:prstGeom prst="roundRect">
            <a:avLst>
              <a:gd name="adj" fmla="val 5000"/>
            </a:avLst>
          </a:prstGeom>
          <a:solidFill>
            <a:srgbClr val="020B0C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1234440"/>
            <a:ext cx="50800" cy="246888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100000">
                <a:srgbClr val="56FF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6355080" y="1280160"/>
            <a:ext cx="5029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rPr sz="1050"/>
              <a:t>◈  INTELLIGENCE LAYER — ml_output schema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1655064"/>
            <a:ext cx="64008" cy="6400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6583680" y="1600200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rPr sz="1050"/>
              <a:t>order_anomaly_scores — IF + LOF + ensemble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2039112"/>
            <a:ext cx="64008" cy="6400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6583680" y="1984248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rPr sz="1050"/>
              <a:t>order_leakage_reasons — many-to-many junction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2423160"/>
            <a:ext cx="64008" cy="6400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6583680" y="2368296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rPr sz="1050"/>
              <a:t>mv_leakage_dashboard — no-JOIN analytics view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2807208"/>
            <a:ext cx="64008" cy="6400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6583680" y="2752344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rPr sz="1050"/>
              <a:t>chatbot_conversations + query_log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3191256"/>
            <a:ext cx="64008" cy="6400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6583680" y="3136392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rPr sz="1050"/>
              <a:t>chatbot_prompt_versions — A/B tested prompts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31920"/>
            <a:ext cx="5394960" cy="2560320"/>
          </a:xfrm>
          <a:prstGeom prst="roundRect">
            <a:avLst>
              <a:gd name="adj" fmla="val 5000"/>
            </a:avLst>
          </a:prstGeom>
          <a:solidFill>
            <a:srgbClr val="08060E"/>
          </a:solidFill>
          <a:ln w="12700">
            <a:solidFill>
              <a:srgbClr val="2E1E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" y="3977640"/>
            <a:ext cx="50800" cy="246888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DBAC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777240" y="4023360"/>
            <a:ext cx="5029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B5CF6"/>
                </a:solidFill>
                <a:latin typeface="Consolas"/>
              </a:defRPr>
            </a:pPr>
            <a:r>
              <a:rPr sz="1050"/>
              <a:t>◈  VECTOR LAYER — rag schema</a:t>
            </a:r>
          </a:p>
        </p:txBody>
      </p:sp>
      <p:sp>
        <p:nvSpPr>
          <p:cNvPr id="33" name="Oval 32"/>
          <p:cNvSpPr/>
          <p:nvPr/>
        </p:nvSpPr>
        <p:spPr>
          <a:xfrm>
            <a:off x="822960" y="4398264"/>
            <a:ext cx="64008" cy="6400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TextBox 33"/>
          <p:cNvSpPr txBox="1"/>
          <p:nvPr/>
        </p:nvSpPr>
        <p:spPr>
          <a:xfrm>
            <a:off x="1005840" y="4343400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rPr sz="1050"/>
              <a:t>documents — source chunks with metadata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" y="4782312"/>
            <a:ext cx="64008" cy="6400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TextBox 35"/>
          <p:cNvSpPr txBox="1"/>
          <p:nvPr/>
        </p:nvSpPr>
        <p:spPr>
          <a:xfrm>
            <a:off x="1005840" y="4727448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rPr sz="1050"/>
              <a:t>schema_embeddings, review_embeddings, business_embeddings</a:t>
            </a:r>
          </a:p>
        </p:txBody>
      </p:sp>
      <p:sp>
        <p:nvSpPr>
          <p:cNvPr id="37" name="Oval 36"/>
          <p:cNvSpPr/>
          <p:nvPr/>
        </p:nvSpPr>
        <p:spPr>
          <a:xfrm>
            <a:off x="822960" y="5166360"/>
            <a:ext cx="64008" cy="6400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TextBox 37"/>
          <p:cNvSpPr txBox="1"/>
          <p:nvPr/>
        </p:nvSpPr>
        <p:spPr>
          <a:xfrm>
            <a:off x="1005840" y="5111496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rPr sz="1050"/>
              <a:t>metrics_embeddings — KPI and aggregation docs</a:t>
            </a:r>
          </a:p>
        </p:txBody>
      </p:sp>
      <p:sp>
        <p:nvSpPr>
          <p:cNvPr id="39" name="Oval 38"/>
          <p:cNvSpPr/>
          <p:nvPr/>
        </p:nvSpPr>
        <p:spPr>
          <a:xfrm>
            <a:off x="822960" y="5550408"/>
            <a:ext cx="64008" cy="6400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0" name="TextBox 39"/>
          <p:cNvSpPr txBox="1"/>
          <p:nvPr/>
        </p:nvSpPr>
        <p:spPr>
          <a:xfrm>
            <a:off x="1005840" y="5495544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rPr sz="1050"/>
              <a:t>retrieval_log — hallucination tracking</a:t>
            </a:r>
          </a:p>
        </p:txBody>
      </p:sp>
      <p:sp>
        <p:nvSpPr>
          <p:cNvPr id="41" name="Oval 40"/>
          <p:cNvSpPr/>
          <p:nvPr/>
        </p:nvSpPr>
        <p:spPr>
          <a:xfrm>
            <a:off x="822960" y="5934456"/>
            <a:ext cx="64008" cy="6400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2" name="TextBox 41"/>
          <p:cNvSpPr txBox="1"/>
          <p:nvPr/>
        </p:nvSpPr>
        <p:spPr>
          <a:xfrm>
            <a:off x="1005840" y="5879592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rPr sz="1050"/>
              <a:t>retrieval_cache — query hash deduplication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80" y="3931920"/>
            <a:ext cx="5394960" cy="2560320"/>
          </a:xfrm>
          <a:prstGeom prst="roundRect">
            <a:avLst>
              <a:gd name="adj" fmla="val 5000"/>
            </a:avLst>
          </a:prstGeom>
          <a:solidFill>
            <a:srgbClr val="020B08"/>
          </a:solidFill>
          <a:ln w="12700">
            <a:solidFill>
              <a:srgbClr val="053D2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72200" y="3977640"/>
            <a:ext cx="50800" cy="2468880"/>
          </a:xfrm>
          <a:prstGeom prst="rect">
            <a:avLst/>
          </a:prstGeom>
          <a:gradFill rotWithShape="1">
            <a:gsLst>
              <a:gs pos="0">
                <a:srgbClr val="10B981"/>
              </a:gs>
              <a:gs pos="100000">
                <a:srgbClr val="60FFD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5" name="TextBox 44"/>
          <p:cNvSpPr txBox="1"/>
          <p:nvPr/>
        </p:nvSpPr>
        <p:spPr>
          <a:xfrm>
            <a:off x="6355080" y="4023360"/>
            <a:ext cx="5029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Consolas"/>
              </a:defRPr>
            </a:pPr>
            <a:r>
              <a:rPr sz="1050"/>
              <a:t>◈  SAFETY + MARKETING — Layers</a:t>
            </a:r>
          </a:p>
        </p:txBody>
      </p:sp>
      <p:sp>
        <p:nvSpPr>
          <p:cNvPr id="46" name="Oval 45"/>
          <p:cNvSpPr/>
          <p:nvPr/>
        </p:nvSpPr>
        <p:spPr>
          <a:xfrm>
            <a:off x="6400800" y="4398264"/>
            <a:ext cx="64008" cy="640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TextBox 46"/>
          <p:cNvSpPr txBox="1"/>
          <p:nvPr/>
        </p:nvSpPr>
        <p:spPr>
          <a:xfrm>
            <a:off x="6583680" y="4343400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rPr sz="1050"/>
              <a:t>sql_guard — injection pattern detection</a:t>
            </a:r>
          </a:p>
        </p:txBody>
      </p:sp>
      <p:sp>
        <p:nvSpPr>
          <p:cNvPr id="48" name="Oval 47"/>
          <p:cNvSpPr/>
          <p:nvPr/>
        </p:nvSpPr>
        <p:spPr>
          <a:xfrm>
            <a:off x="6400800" y="4782312"/>
            <a:ext cx="64008" cy="640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9" name="TextBox 48"/>
          <p:cNvSpPr txBox="1"/>
          <p:nvPr/>
        </p:nvSpPr>
        <p:spPr>
          <a:xfrm>
            <a:off x="6583680" y="4727448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rPr sz="1050"/>
              <a:t>chatbot_readonly role — 15s statement timeout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0" y="5166360"/>
            <a:ext cx="64008" cy="640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1" name="TextBox 50"/>
          <p:cNvSpPr txBox="1"/>
          <p:nvPr/>
        </p:nvSpPr>
        <p:spPr>
          <a:xfrm>
            <a:off x="6583680" y="5111496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rPr sz="1050"/>
              <a:t>marketing.campaigns, attribution, sessions</a:t>
            </a:r>
          </a:p>
        </p:txBody>
      </p:sp>
      <p:sp>
        <p:nvSpPr>
          <p:cNvPr id="52" name="Oval 51"/>
          <p:cNvSpPr/>
          <p:nvPr/>
        </p:nvSpPr>
        <p:spPr>
          <a:xfrm>
            <a:off x="6400800" y="5550408"/>
            <a:ext cx="64008" cy="640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3" name="TextBox 52"/>
          <p:cNvSpPr txBox="1"/>
          <p:nvPr/>
        </p:nvSpPr>
        <p:spPr>
          <a:xfrm>
            <a:off x="6583680" y="5495544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rPr sz="1050"/>
              <a:t>leads_qualified, leads_closed pipeline</a:t>
            </a:r>
          </a:p>
        </p:txBody>
      </p:sp>
      <p:sp>
        <p:nvSpPr>
          <p:cNvPr id="54" name="Oval 53"/>
          <p:cNvSpPr/>
          <p:nvPr/>
        </p:nvSpPr>
        <p:spPr>
          <a:xfrm>
            <a:off x="6400800" y="5934456"/>
            <a:ext cx="64008" cy="640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5" name="TextBox 54"/>
          <p:cNvSpPr txBox="1"/>
          <p:nvPr/>
        </p:nvSpPr>
        <p:spPr>
          <a:xfrm>
            <a:off x="6583680" y="5879592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rPr sz="1050"/>
              <a:t>customer_interactions — 1M channel 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rPr sz="1600" dirty="0"/>
              <a:t>03 — SCHEMA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8F0FE"/>
                </a:solidFill>
                <a:latin typeface="Segoe UI"/>
              </a:defRPr>
            </a:pPr>
            <a:r>
              <a:t>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FA3"/>
                </a:solidFill>
                <a:latin typeface="Segoe UI"/>
              </a:defRPr>
            </a:pPr>
            <a:r>
              <a:t>Four schemas with clear separation of concerns. Every foreign key enforced. Every money column in EGP. Every enum typed for safety.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651760" cy="4572000"/>
          </a:xfrm>
          <a:prstGeom prst="roundRect">
            <a:avLst>
              <a:gd name="adj" fmla="val 5000"/>
            </a:avLst>
          </a:prstGeom>
          <a:solidFill>
            <a:srgbClr val="04080E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84632" y="1947672"/>
            <a:ext cx="2596896" cy="365760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204825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B82F6"/>
                </a:solidFill>
                <a:latin typeface="Consolas"/>
              </a:defRPr>
            </a:pPr>
            <a:r>
              <a:rPr sz="1400"/>
              <a:t>ecommerce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40864"/>
            <a:ext cx="2468880" cy="254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8BD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4070B"/>
          </a:solidFill>
          <a:ln w="12700">
            <a:solidFill>
              <a:srgbClr val="0B1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51460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B82F6"/>
                </a:solidFill>
                <a:latin typeface="Consolas"/>
              </a:defRPr>
            </a:pPr>
            <a:r>
              <a:rPr sz="900"/>
              <a:t>298K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52928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4070B"/>
          </a:solidFill>
          <a:ln w="12700">
            <a:solidFill>
              <a:srgbClr val="0B1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898648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898648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B82F6"/>
                </a:solidFill>
                <a:latin typeface="Consolas"/>
              </a:defRPr>
            </a:pPr>
            <a:r>
              <a:rPr sz="900"/>
              <a:t>253K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36976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4070B"/>
          </a:solidFill>
          <a:ln w="12700">
            <a:solidFill>
              <a:srgbClr val="0B1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282696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order_items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282696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B82F6"/>
                </a:solidFill>
                <a:latin typeface="Consolas"/>
              </a:defRPr>
            </a:pPr>
            <a:r>
              <a:rPr sz="900"/>
              <a:t>435K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21024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4070B"/>
          </a:solidFill>
          <a:ln w="12700">
            <a:solidFill>
              <a:srgbClr val="0B1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666744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payments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666744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B82F6"/>
                </a:solidFill>
                <a:latin typeface="Consolas"/>
              </a:defRPr>
            </a:pPr>
            <a:r>
              <a:rPr sz="900"/>
              <a:t>297K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05072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4070B"/>
          </a:solidFill>
          <a:ln w="12700">
            <a:solidFill>
              <a:srgbClr val="0B1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050792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shipping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050792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B82F6"/>
                </a:solidFill>
                <a:latin typeface="Consolas"/>
              </a:defRPr>
            </a:pPr>
            <a:r>
              <a:rPr sz="900"/>
              <a:t>298K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389120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4070B"/>
          </a:solidFill>
          <a:ln w="12700">
            <a:solidFill>
              <a:srgbClr val="0B1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reviews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443484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B82F6"/>
                </a:solidFill>
                <a:latin typeface="Consolas"/>
              </a:defRPr>
            </a:pPr>
            <a:r>
              <a:rPr sz="900"/>
              <a:t>262K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73168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4070B"/>
          </a:solidFill>
          <a:ln w="12700">
            <a:solidFill>
              <a:srgbClr val="0B1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818888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refunds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4818888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B82F6"/>
                </a:solidFill>
                <a:latin typeface="Consolas"/>
              </a:defRPr>
            </a:pPr>
            <a:r>
              <a:rPr sz="900"/>
              <a:t>7.8K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57216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4070B"/>
          </a:solidFill>
          <a:ln w="12700">
            <a:solidFill>
              <a:srgbClr val="0B1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5202936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products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5202936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B82F6"/>
                </a:solidFill>
                <a:latin typeface="Consolas"/>
              </a:defRPr>
            </a:pPr>
            <a:r>
              <a:rPr sz="900"/>
              <a:t>50K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541264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4070B"/>
          </a:solidFill>
          <a:ln w="12700">
            <a:solidFill>
              <a:srgbClr val="0B1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5586984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sellers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586984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B82F6"/>
                </a:solidFill>
                <a:latin typeface="Consolas"/>
              </a:defRPr>
            </a:pPr>
            <a:r>
              <a:rPr sz="900"/>
              <a:t>5K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925312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4070B"/>
          </a:solidFill>
          <a:ln w="12700">
            <a:solidFill>
              <a:srgbClr val="0B1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5971032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geolocation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5971032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B82F6"/>
                </a:solidFill>
                <a:latin typeface="Consolas"/>
              </a:defRPr>
            </a:pPr>
            <a:r>
              <a:rPr sz="900"/>
              <a:t>85K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46120" y="1920240"/>
            <a:ext cx="2651760" cy="4572000"/>
          </a:xfrm>
          <a:prstGeom prst="roundRect">
            <a:avLst>
              <a:gd name="adj" fmla="val 5000"/>
            </a:avLst>
          </a:prstGeom>
          <a:solidFill>
            <a:srgbClr val="08060E"/>
          </a:solidFill>
          <a:ln w="12700">
            <a:solidFill>
              <a:srgbClr val="2E1E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1" name="Rounded Rectangle 40"/>
          <p:cNvSpPr/>
          <p:nvPr/>
        </p:nvSpPr>
        <p:spPr>
          <a:xfrm>
            <a:off x="3273552" y="1947672"/>
            <a:ext cx="2596896" cy="365760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2" name="Oval 41"/>
          <p:cNvSpPr/>
          <p:nvPr/>
        </p:nvSpPr>
        <p:spPr>
          <a:xfrm>
            <a:off x="3383280" y="204825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3" name="TextBox 42"/>
          <p:cNvSpPr txBox="1"/>
          <p:nvPr/>
        </p:nvSpPr>
        <p:spPr>
          <a:xfrm>
            <a:off x="3566160" y="2011680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B5CF6"/>
                </a:solidFill>
                <a:latin typeface="Consolas"/>
              </a:defRPr>
            </a:pPr>
            <a:r>
              <a:rPr sz="1400"/>
              <a:t>ml_output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37560" y="2340864"/>
            <a:ext cx="2468880" cy="254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DBAC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5" name="Rounded Rectangle 44"/>
          <p:cNvSpPr/>
          <p:nvPr/>
        </p:nvSpPr>
        <p:spPr>
          <a:xfrm>
            <a:off x="3337560" y="2468880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7050B"/>
          </a:solidFill>
          <a:ln w="12700">
            <a:solidFill>
              <a:srgbClr val="1B1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6" name="TextBox 45"/>
          <p:cNvSpPr txBox="1"/>
          <p:nvPr/>
        </p:nvSpPr>
        <p:spPr>
          <a:xfrm>
            <a:off x="3429000" y="2514600"/>
            <a:ext cx="1874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 dirty="0" err="1"/>
              <a:t>order_anomaly_scores</a:t>
            </a:r>
            <a:endParaRPr sz="1000" dirty="0"/>
          </a:p>
        </p:txBody>
      </p:sp>
      <p:sp>
        <p:nvSpPr>
          <p:cNvPr id="47" name="Rounded Rectangle 46"/>
          <p:cNvSpPr/>
          <p:nvPr/>
        </p:nvSpPr>
        <p:spPr>
          <a:xfrm>
            <a:off x="3337560" y="2852928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7050B"/>
          </a:solidFill>
          <a:ln w="12700">
            <a:solidFill>
              <a:srgbClr val="1B1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8" name="TextBox 47"/>
          <p:cNvSpPr txBox="1"/>
          <p:nvPr/>
        </p:nvSpPr>
        <p:spPr>
          <a:xfrm>
            <a:off x="3429000" y="2898648"/>
            <a:ext cx="1783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order_leakage_reasons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37560" y="3236976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7050B"/>
          </a:solidFill>
          <a:ln w="12700">
            <a:solidFill>
              <a:srgbClr val="1B1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0" name="TextBox 49"/>
          <p:cNvSpPr txBox="1"/>
          <p:nvPr/>
        </p:nvSpPr>
        <p:spPr>
          <a:xfrm>
            <a:off x="3429000" y="3282696"/>
            <a:ext cx="1783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 dirty="0" err="1"/>
              <a:t>mv_leakage_dashboard</a:t>
            </a:r>
            <a:endParaRPr sz="1000" dirty="0"/>
          </a:p>
        </p:txBody>
      </p:sp>
      <p:sp>
        <p:nvSpPr>
          <p:cNvPr id="51" name="Rounded Rectangle 50"/>
          <p:cNvSpPr/>
          <p:nvPr/>
        </p:nvSpPr>
        <p:spPr>
          <a:xfrm>
            <a:off x="3337560" y="3621024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7050B"/>
          </a:solidFill>
          <a:ln w="12700">
            <a:solidFill>
              <a:srgbClr val="1B1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2" name="TextBox 51"/>
          <p:cNvSpPr txBox="1"/>
          <p:nvPr/>
        </p:nvSpPr>
        <p:spPr>
          <a:xfrm>
            <a:off x="3429000" y="3666744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mv_monthly_leakage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37560" y="4005072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7050B"/>
          </a:solidFill>
          <a:ln w="12700">
            <a:solidFill>
              <a:srgbClr val="1B1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4" name="TextBox 53"/>
          <p:cNvSpPr txBox="1"/>
          <p:nvPr/>
        </p:nvSpPr>
        <p:spPr>
          <a:xfrm>
            <a:off x="3429000" y="4050792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mv_seller_risk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37560" y="4389120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7050B"/>
          </a:solidFill>
          <a:ln w="12700">
            <a:solidFill>
              <a:srgbClr val="1B1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6" name="TextBox 55"/>
          <p:cNvSpPr txBox="1"/>
          <p:nvPr/>
        </p:nvSpPr>
        <p:spPr>
          <a:xfrm>
            <a:off x="3429000" y="4434840"/>
            <a:ext cx="1874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 dirty="0" err="1"/>
              <a:t>mv_leakage_by_scenario</a:t>
            </a:r>
            <a:endParaRPr sz="1000" dirty="0"/>
          </a:p>
        </p:txBody>
      </p:sp>
      <p:sp>
        <p:nvSpPr>
          <p:cNvPr id="57" name="Rounded Rectangle 56"/>
          <p:cNvSpPr/>
          <p:nvPr/>
        </p:nvSpPr>
        <p:spPr>
          <a:xfrm>
            <a:off x="3337560" y="4773168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7050B"/>
          </a:solidFill>
          <a:ln w="12700">
            <a:solidFill>
              <a:srgbClr val="1B1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8" name="TextBox 57"/>
          <p:cNvSpPr txBox="1"/>
          <p:nvPr/>
        </p:nvSpPr>
        <p:spPr>
          <a:xfrm>
            <a:off x="3429000" y="4818888"/>
            <a:ext cx="1965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 dirty="0" err="1"/>
              <a:t>chatbot_conversations</a:t>
            </a:r>
            <a:endParaRPr sz="1000" dirty="0"/>
          </a:p>
        </p:txBody>
      </p:sp>
      <p:sp>
        <p:nvSpPr>
          <p:cNvPr id="59" name="Rounded Rectangle 58"/>
          <p:cNvSpPr/>
          <p:nvPr/>
        </p:nvSpPr>
        <p:spPr>
          <a:xfrm>
            <a:off x="3337560" y="5157216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7050B"/>
          </a:solidFill>
          <a:ln w="12700">
            <a:solidFill>
              <a:srgbClr val="1B1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0" name="TextBox 59"/>
          <p:cNvSpPr txBox="1"/>
          <p:nvPr/>
        </p:nvSpPr>
        <p:spPr>
          <a:xfrm>
            <a:off x="3429000" y="5202936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chatbot_query_log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37560" y="5541264"/>
            <a:ext cx="2560320" cy="265176"/>
          </a:xfrm>
          <a:prstGeom prst="roundRect">
            <a:avLst>
              <a:gd name="adj" fmla="val 4000"/>
            </a:avLst>
          </a:prstGeom>
          <a:solidFill>
            <a:srgbClr val="07050B"/>
          </a:solidFill>
          <a:ln w="12700">
            <a:solidFill>
              <a:srgbClr val="1B1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2" name="TextBox 61"/>
          <p:cNvSpPr txBox="1"/>
          <p:nvPr/>
        </p:nvSpPr>
        <p:spPr>
          <a:xfrm>
            <a:off x="3429000" y="5586984"/>
            <a:ext cx="1965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 dirty="0" err="1"/>
              <a:t>chatbot_prompt_versions</a:t>
            </a:r>
            <a:endParaRPr sz="1000" dirty="0"/>
          </a:p>
        </p:txBody>
      </p:sp>
      <p:sp>
        <p:nvSpPr>
          <p:cNvPr id="63" name="Rounded Rectangle 62"/>
          <p:cNvSpPr/>
          <p:nvPr/>
        </p:nvSpPr>
        <p:spPr>
          <a:xfrm>
            <a:off x="3337560" y="5925312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7050B"/>
          </a:solidFill>
          <a:ln w="12700">
            <a:solidFill>
              <a:srgbClr val="1B1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4" name="TextBox 63"/>
          <p:cNvSpPr txBox="1"/>
          <p:nvPr/>
        </p:nvSpPr>
        <p:spPr>
          <a:xfrm>
            <a:off x="3429000" y="5971032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schema_metadata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35040" y="1920240"/>
            <a:ext cx="2651760" cy="4572000"/>
          </a:xfrm>
          <a:prstGeom prst="roundRect">
            <a:avLst>
              <a:gd name="adj" fmla="val 5000"/>
            </a:avLst>
          </a:prstGeom>
          <a:solidFill>
            <a:srgbClr val="020B0C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6" name="Rounded Rectangle 65"/>
          <p:cNvSpPr/>
          <p:nvPr/>
        </p:nvSpPr>
        <p:spPr>
          <a:xfrm>
            <a:off x="6062472" y="1947672"/>
            <a:ext cx="2596896" cy="365760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7" name="Oval 66"/>
          <p:cNvSpPr/>
          <p:nvPr/>
        </p:nvSpPr>
        <p:spPr>
          <a:xfrm>
            <a:off x="6172200" y="2048256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8" name="TextBox 67"/>
          <p:cNvSpPr txBox="1"/>
          <p:nvPr/>
        </p:nvSpPr>
        <p:spPr>
          <a:xfrm>
            <a:off x="6355080" y="2011680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B6D4"/>
                </a:solidFill>
                <a:latin typeface="Consolas"/>
              </a:defRPr>
            </a:pPr>
            <a:r>
              <a:rPr sz="1400"/>
              <a:t>rag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26480" y="2340864"/>
            <a:ext cx="2468880" cy="254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100000">
                <a:srgbClr val="56FF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0" name="Rounded Rectangle 69"/>
          <p:cNvSpPr/>
          <p:nvPr/>
        </p:nvSpPr>
        <p:spPr>
          <a:xfrm>
            <a:off x="6126480" y="2468880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2090A"/>
          </a:solidFill>
          <a:ln w="12700">
            <a:solidFill>
              <a:srgbClr val="01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1" name="TextBox 70"/>
          <p:cNvSpPr txBox="1"/>
          <p:nvPr/>
        </p:nvSpPr>
        <p:spPr>
          <a:xfrm>
            <a:off x="6217920" y="2514600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documents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26480" y="2852928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2090A"/>
          </a:solidFill>
          <a:ln w="12700">
            <a:solidFill>
              <a:srgbClr val="01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3" name="TextBox 72"/>
          <p:cNvSpPr txBox="1"/>
          <p:nvPr/>
        </p:nvSpPr>
        <p:spPr>
          <a:xfrm>
            <a:off x="6217920" y="2898648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schema_embeddings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26680" y="2898648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6B6D4"/>
                </a:solidFill>
                <a:latin typeface="Consolas"/>
              </a:defRPr>
            </a:pPr>
            <a:r>
              <a:rPr sz="900"/>
              <a:t>1024d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26480" y="3236976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2090A"/>
          </a:solidFill>
          <a:ln w="12700">
            <a:solidFill>
              <a:srgbClr val="01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6" name="TextBox 75"/>
          <p:cNvSpPr txBox="1"/>
          <p:nvPr/>
        </p:nvSpPr>
        <p:spPr>
          <a:xfrm>
            <a:off x="6217920" y="3282696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review_embeddings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26680" y="3282696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6B6D4"/>
                </a:solidFill>
                <a:latin typeface="Consolas"/>
              </a:defRPr>
            </a:pPr>
            <a:r>
              <a:rPr sz="900"/>
              <a:t>1024d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126480" y="3621024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2090A"/>
          </a:solidFill>
          <a:ln w="12700">
            <a:solidFill>
              <a:srgbClr val="01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9" name="TextBox 78"/>
          <p:cNvSpPr txBox="1"/>
          <p:nvPr/>
        </p:nvSpPr>
        <p:spPr>
          <a:xfrm>
            <a:off x="6217920" y="3666744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business_embeddings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26680" y="3666744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6B6D4"/>
                </a:solidFill>
                <a:latin typeface="Consolas"/>
              </a:defRPr>
            </a:pPr>
            <a:r>
              <a:rPr sz="900"/>
              <a:t>1024d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126480" y="4005072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2090A"/>
          </a:solidFill>
          <a:ln w="12700">
            <a:solidFill>
              <a:srgbClr val="01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2" name="TextBox 81"/>
          <p:cNvSpPr txBox="1"/>
          <p:nvPr/>
        </p:nvSpPr>
        <p:spPr>
          <a:xfrm>
            <a:off x="6217920" y="4050792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metrics_embeddings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26680" y="4050792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6B6D4"/>
                </a:solidFill>
                <a:latin typeface="Consolas"/>
              </a:defRPr>
            </a:pPr>
            <a:r>
              <a:rPr sz="900"/>
              <a:t>1024d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26480" y="4389120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2090A"/>
          </a:solidFill>
          <a:ln w="12700">
            <a:solidFill>
              <a:srgbClr val="01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5" name="TextBox 84"/>
          <p:cNvSpPr txBox="1"/>
          <p:nvPr/>
        </p:nvSpPr>
        <p:spPr>
          <a:xfrm>
            <a:off x="6217920" y="4434840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document_versions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26480" y="4773168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2090A"/>
          </a:solidFill>
          <a:ln w="12700">
            <a:solidFill>
              <a:srgbClr val="01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7" name="TextBox 86"/>
          <p:cNvSpPr txBox="1"/>
          <p:nvPr/>
        </p:nvSpPr>
        <p:spPr>
          <a:xfrm>
            <a:off x="6217920" y="4818888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retrieval_log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126480" y="5157216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2090A"/>
          </a:solidFill>
          <a:ln w="12700">
            <a:solidFill>
              <a:srgbClr val="01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9" name="TextBox 88"/>
          <p:cNvSpPr txBox="1"/>
          <p:nvPr/>
        </p:nvSpPr>
        <p:spPr>
          <a:xfrm>
            <a:off x="6217920" y="5202936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retrieval_cache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26480" y="5541264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2090A"/>
          </a:solidFill>
          <a:ln w="12700">
            <a:solidFill>
              <a:srgbClr val="012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1" name="TextBox 90"/>
          <p:cNvSpPr txBox="1"/>
          <p:nvPr/>
        </p:nvSpPr>
        <p:spPr>
          <a:xfrm>
            <a:off x="6217920" y="5586984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sql_guard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823960" y="1920240"/>
            <a:ext cx="2651760" cy="4572000"/>
          </a:xfrm>
          <a:prstGeom prst="roundRect">
            <a:avLst>
              <a:gd name="adj" fmla="val 5000"/>
            </a:avLst>
          </a:prstGeom>
          <a:solidFill>
            <a:srgbClr val="020B08"/>
          </a:solidFill>
          <a:ln w="12700">
            <a:solidFill>
              <a:srgbClr val="053D2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3" name="Rounded Rectangle 92"/>
          <p:cNvSpPr/>
          <p:nvPr/>
        </p:nvSpPr>
        <p:spPr>
          <a:xfrm>
            <a:off x="8851392" y="1947672"/>
            <a:ext cx="2596896" cy="365760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4" name="Oval 93"/>
          <p:cNvSpPr/>
          <p:nvPr/>
        </p:nvSpPr>
        <p:spPr>
          <a:xfrm>
            <a:off x="8961120" y="204825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5" name="TextBox 94"/>
          <p:cNvSpPr txBox="1"/>
          <p:nvPr/>
        </p:nvSpPr>
        <p:spPr>
          <a:xfrm>
            <a:off x="9144000" y="2011680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onsolas"/>
              </a:defRPr>
            </a:pPr>
            <a:r>
              <a:rPr sz="1400"/>
              <a:t>marketing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15400" y="2340864"/>
            <a:ext cx="2468880" cy="25400"/>
          </a:xfrm>
          <a:prstGeom prst="rect">
            <a:avLst/>
          </a:prstGeom>
          <a:gradFill rotWithShape="1">
            <a:gsLst>
              <a:gs pos="0">
                <a:srgbClr val="10B981"/>
              </a:gs>
              <a:gs pos="100000">
                <a:srgbClr val="60FFD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7" name="Rounded Rectangle 96"/>
          <p:cNvSpPr/>
          <p:nvPr/>
        </p:nvSpPr>
        <p:spPr>
          <a:xfrm>
            <a:off x="8915400" y="2468880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20907"/>
          </a:solidFill>
          <a:ln w="12700">
            <a:solidFill>
              <a:srgbClr val="032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8" name="TextBox 97"/>
          <p:cNvSpPr txBox="1"/>
          <p:nvPr/>
        </p:nvSpPr>
        <p:spPr>
          <a:xfrm>
            <a:off x="9006840" y="2514600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marketing_campaigns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15600" y="251460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rPr sz="900"/>
              <a:t>184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915400" y="2852928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20907"/>
          </a:solidFill>
          <a:ln w="12700">
            <a:solidFill>
              <a:srgbClr val="032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" name="TextBox 100"/>
          <p:cNvSpPr txBox="1"/>
          <p:nvPr/>
        </p:nvSpPr>
        <p:spPr>
          <a:xfrm>
            <a:off x="9006840" y="2898648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leads_qualified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515600" y="2898648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rPr sz="900"/>
              <a:t>24K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915400" y="3236976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20907"/>
          </a:solidFill>
          <a:ln w="12700">
            <a:solidFill>
              <a:srgbClr val="032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4" name="TextBox 103"/>
          <p:cNvSpPr txBox="1"/>
          <p:nvPr/>
        </p:nvSpPr>
        <p:spPr>
          <a:xfrm>
            <a:off x="9006840" y="3282696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leads_closed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515600" y="3282696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rPr sz="900"/>
              <a:t>7.2K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915400" y="3621024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20907"/>
          </a:solidFill>
          <a:ln w="12700">
            <a:solidFill>
              <a:srgbClr val="032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" name="TextBox 106"/>
          <p:cNvSpPr txBox="1"/>
          <p:nvPr/>
        </p:nvSpPr>
        <p:spPr>
          <a:xfrm>
            <a:off x="9006839" y="3666744"/>
            <a:ext cx="18676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 dirty="0" err="1"/>
              <a:t>campaign_attribution</a:t>
            </a:r>
            <a:endParaRPr sz="1000" dirty="0"/>
          </a:p>
        </p:txBody>
      </p:sp>
      <p:sp>
        <p:nvSpPr>
          <p:cNvPr id="108" name="TextBox 107"/>
          <p:cNvSpPr txBox="1"/>
          <p:nvPr/>
        </p:nvSpPr>
        <p:spPr>
          <a:xfrm>
            <a:off x="10515600" y="3666744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rPr sz="900"/>
              <a:t>208K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915400" y="4005072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20907"/>
          </a:solidFill>
          <a:ln w="12700">
            <a:solidFill>
              <a:srgbClr val="032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0" name="TextBox 109"/>
          <p:cNvSpPr txBox="1"/>
          <p:nvPr/>
        </p:nvSpPr>
        <p:spPr>
          <a:xfrm>
            <a:off x="9006840" y="4050792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/>
              <a:t>website_sessions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515600" y="4050792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rPr sz="900"/>
              <a:t>1.26M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915400" y="4389120"/>
            <a:ext cx="2468880" cy="310896"/>
          </a:xfrm>
          <a:prstGeom prst="roundRect">
            <a:avLst>
              <a:gd name="adj" fmla="val 4000"/>
            </a:avLst>
          </a:prstGeom>
          <a:solidFill>
            <a:srgbClr val="020907"/>
          </a:solidFill>
          <a:ln w="12700">
            <a:solidFill>
              <a:srgbClr val="032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3" name="TextBox 112"/>
          <p:cNvSpPr txBox="1"/>
          <p:nvPr/>
        </p:nvSpPr>
        <p:spPr>
          <a:xfrm>
            <a:off x="9006840" y="4434840"/>
            <a:ext cx="18676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C0D8"/>
                </a:solidFill>
                <a:latin typeface="Consolas"/>
              </a:defRPr>
            </a:pPr>
            <a:r>
              <a:rPr sz="1000" dirty="0" err="1"/>
              <a:t>customer_interactions</a:t>
            </a:r>
            <a:endParaRPr sz="1000" dirty="0"/>
          </a:p>
        </p:txBody>
      </p:sp>
      <p:sp>
        <p:nvSpPr>
          <p:cNvPr id="114" name="TextBox 113"/>
          <p:cNvSpPr txBox="1"/>
          <p:nvPr/>
        </p:nvSpPr>
        <p:spPr>
          <a:xfrm>
            <a:off x="10515600" y="443484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rPr sz="900"/>
              <a:t>1M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rPr sz="1600" dirty="0"/>
              <a:t>03 — SCHEMA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8F0FE"/>
                </a:solidFill>
                <a:latin typeface="Segoe UI"/>
              </a:defRPr>
            </a:pPr>
            <a:r>
              <a:t>Detailed Table Schemas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" y="1161288"/>
            <a:ext cx="2798064" cy="1810512"/>
          </a:xfrm>
          <a:prstGeom prst="roundRect">
            <a:avLst>
              <a:gd name="adj" fmla="val 5000"/>
            </a:avLst>
          </a:prstGeom>
          <a:solidFill>
            <a:srgbClr val="040911"/>
          </a:solidFill>
          <a:ln>
            <a:noFill/>
          </a:ln>
          <a:effectLst>
            <a:glow rad="76200">
              <a:srgbClr val="3B82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743200" cy="1957603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384048" y="1207008"/>
            <a:ext cx="2706624" cy="292608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Oval 6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594360" y="1225296"/>
            <a:ext cx="2423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rPr sz="900"/>
              <a:t>ecommerce.orders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90472"/>
            <a:ext cx="2651760" cy="19050"/>
          </a:xfrm>
          <a:prstGeom prst="roundRect">
            <a:avLst/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ounded Rectangle 9"/>
          <p:cNvSpPr/>
          <p:nvPr/>
        </p:nvSpPr>
        <p:spPr>
          <a:xfrm>
            <a:off x="393192" y="1517904"/>
            <a:ext cx="26883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20624" y="151790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rPr sz="700"/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27048"/>
            <a:ext cx="13167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rPr sz="900"/>
              <a:t>order_id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27048"/>
            <a:ext cx="12893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rPr sz="800"/>
              <a:t>VARCHAR(32)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171907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0B981"/>
                </a:solidFill>
                <a:latin typeface="Consolas"/>
              </a:defRPr>
            </a:pPr>
            <a:r>
              <a:rPr sz="700"/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728216"/>
            <a:ext cx="13167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rPr sz="900"/>
              <a:t>customer_id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1728216"/>
            <a:ext cx="12893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rPr sz="800"/>
              <a:t>FK → customers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" y="1920240"/>
            <a:ext cx="26883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420624" y="192024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rPr sz="700"/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929384"/>
            <a:ext cx="13167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sz="900"/>
              <a:t>order_status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1929384"/>
            <a:ext cx="12893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rPr sz="800"/>
              <a:t>order_status_t ENUM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212140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rPr sz="700"/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130552"/>
            <a:ext cx="13167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sz="900"/>
              <a:t>profit_margin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2130552"/>
            <a:ext cx="12893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rPr sz="800"/>
              <a:t>NUMERIC(7,4)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" y="2322576"/>
            <a:ext cx="26883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420624" y="232257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rPr sz="700"/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331720"/>
            <a:ext cx="13167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sz="900"/>
              <a:t>payment_status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2331720"/>
            <a:ext cx="12893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rPr sz="800"/>
              <a:t>payment_status_t ENUM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" y="252374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rPr sz="700"/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532888"/>
            <a:ext cx="13167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sz="900"/>
              <a:t>order_month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2532888"/>
            <a:ext cx="12893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rPr sz="800"/>
              <a:t>GENERATED DATE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3192" y="2724912"/>
            <a:ext cx="26883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420624" y="272491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rPr sz="700"/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734056"/>
            <a:ext cx="15270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sz="900"/>
              <a:t>inventory_mismatch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2734056"/>
            <a:ext cx="12893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rPr sz="800"/>
              <a:t>BOOLEAN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7288" y="1161288"/>
            <a:ext cx="3163824" cy="1810512"/>
          </a:xfrm>
          <a:prstGeom prst="roundRect">
            <a:avLst>
              <a:gd name="adj" fmla="val 5000"/>
            </a:avLst>
          </a:prstGeom>
          <a:solidFill>
            <a:srgbClr val="090611"/>
          </a:solidFill>
          <a:ln>
            <a:noFill/>
          </a:ln>
          <a:effectLst>
            <a:glow rad="76200">
              <a:srgbClr val="8B5C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Rounded Rectangle 35"/>
          <p:cNvSpPr/>
          <p:nvPr/>
        </p:nvSpPr>
        <p:spPr>
          <a:xfrm>
            <a:off x="3474720" y="1188720"/>
            <a:ext cx="3108960" cy="1957604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2E1E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7" name="Rounded Rectangle 36"/>
          <p:cNvSpPr/>
          <p:nvPr/>
        </p:nvSpPr>
        <p:spPr>
          <a:xfrm>
            <a:off x="3493008" y="1207008"/>
            <a:ext cx="3072384" cy="292608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Oval 37"/>
          <p:cNvSpPr/>
          <p:nvPr/>
        </p:nvSpPr>
        <p:spPr>
          <a:xfrm>
            <a:off x="3566160" y="1280160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3703320" y="1225296"/>
            <a:ext cx="2788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8B5CF6"/>
                </a:solidFill>
                <a:latin typeface="Consolas"/>
              </a:defRPr>
            </a:pPr>
            <a:r>
              <a:rPr sz="900"/>
              <a:t>ml_output.order_anomaly_scores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20440" y="1490472"/>
            <a:ext cx="3017520" cy="19050"/>
          </a:xfrm>
          <a:prstGeom prst="roundRect">
            <a:avLst/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1" name="Rounded Rectangle 40"/>
          <p:cNvSpPr/>
          <p:nvPr/>
        </p:nvSpPr>
        <p:spPr>
          <a:xfrm>
            <a:off x="3502152" y="1517904"/>
            <a:ext cx="305409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2" name="TextBox 41"/>
          <p:cNvSpPr txBox="1"/>
          <p:nvPr/>
        </p:nvSpPr>
        <p:spPr>
          <a:xfrm>
            <a:off x="3529584" y="151790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rPr sz="700"/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1527048"/>
            <a:ext cx="14923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rPr sz="900"/>
              <a:t>order_id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1527048"/>
            <a:ext cx="14612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rPr sz="800"/>
              <a:t>PK + FK → orders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9584" y="171907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rPr sz="700"/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1728216"/>
            <a:ext cx="14923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sz="900"/>
              <a:t>if_score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1728216"/>
            <a:ext cx="14612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rPr sz="800"/>
              <a:t>NUMERIC(8,6)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02152" y="1920240"/>
            <a:ext cx="305409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9" name="TextBox 48"/>
          <p:cNvSpPr txBox="1"/>
          <p:nvPr/>
        </p:nvSpPr>
        <p:spPr>
          <a:xfrm>
            <a:off x="3529584" y="192024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rPr sz="700"/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1929384"/>
            <a:ext cx="14923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sz="900"/>
              <a:t>lof_score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1929384"/>
            <a:ext cx="14612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rPr sz="800"/>
              <a:t>NUMERIC(8,6)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29584" y="212140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rPr sz="700"/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2130552"/>
            <a:ext cx="14923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sz="900"/>
              <a:t>ensemble_score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0" y="2130552"/>
            <a:ext cx="14612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rPr sz="800"/>
              <a:t>NUMERIC(8,6)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502152" y="2322576"/>
            <a:ext cx="305409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6" name="TextBox 55"/>
          <p:cNvSpPr txBox="1"/>
          <p:nvPr/>
        </p:nvSpPr>
        <p:spPr>
          <a:xfrm>
            <a:off x="3529584" y="232257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rPr sz="700"/>
              <a:t>·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0" y="2331720"/>
            <a:ext cx="14923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sz="900"/>
              <a:t>anomaly_flag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2331720"/>
            <a:ext cx="14612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rPr sz="800"/>
              <a:t>SMALLINT 0/1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29584" y="252374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rPr sz="700"/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0" y="2532888"/>
            <a:ext cx="14923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sz="900"/>
              <a:t>risk_tier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0" y="2532888"/>
            <a:ext cx="14612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rPr sz="800"/>
              <a:t>risk_tier_t ENUM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502152" y="2724912"/>
            <a:ext cx="305409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3" name="TextBox 62"/>
          <p:cNvSpPr txBox="1"/>
          <p:nvPr/>
        </p:nvSpPr>
        <p:spPr>
          <a:xfrm>
            <a:off x="3529584" y="272491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rPr sz="700"/>
              <a:t>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0" y="2734056"/>
            <a:ext cx="14923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sz="900"/>
              <a:t>leakage_scenarios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0" y="2734056"/>
            <a:ext cx="14612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rPr sz="800"/>
              <a:t>leakage_scenario_t[]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013448" y="1161288"/>
            <a:ext cx="2432304" cy="1810512"/>
          </a:xfrm>
          <a:prstGeom prst="roundRect">
            <a:avLst>
              <a:gd name="adj" fmla="val 5000"/>
            </a:avLst>
          </a:prstGeom>
          <a:solidFill>
            <a:srgbClr val="020D0F"/>
          </a:solidFill>
          <a:ln>
            <a:noFill/>
          </a:ln>
          <a:effectLst>
            <a:glow rad="76200">
              <a:srgbClr val="06B6D4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7" name="Rounded Rectangle 66"/>
          <p:cNvSpPr/>
          <p:nvPr/>
        </p:nvSpPr>
        <p:spPr>
          <a:xfrm>
            <a:off x="7040880" y="1188720"/>
            <a:ext cx="2377440" cy="2075590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8" name="Rounded Rectangle 67"/>
          <p:cNvSpPr/>
          <p:nvPr/>
        </p:nvSpPr>
        <p:spPr>
          <a:xfrm>
            <a:off x="7059168" y="1207008"/>
            <a:ext cx="2340864" cy="292608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9" name="Oval 68"/>
          <p:cNvSpPr/>
          <p:nvPr/>
        </p:nvSpPr>
        <p:spPr>
          <a:xfrm>
            <a:off x="7132320" y="1280160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0" name="TextBox 69"/>
          <p:cNvSpPr txBox="1"/>
          <p:nvPr/>
        </p:nvSpPr>
        <p:spPr>
          <a:xfrm>
            <a:off x="7269480" y="1225296"/>
            <a:ext cx="2057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6B6D4"/>
                </a:solidFill>
                <a:latin typeface="Consolas"/>
              </a:defRPr>
            </a:pPr>
            <a:r>
              <a:rPr sz="900"/>
              <a:t>rag.documents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086600" y="1490472"/>
            <a:ext cx="2286000" cy="19050"/>
          </a:xfrm>
          <a:prstGeom prst="roundRect">
            <a:avLst/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2" name="Rounded Rectangle 71"/>
          <p:cNvSpPr/>
          <p:nvPr/>
        </p:nvSpPr>
        <p:spPr>
          <a:xfrm>
            <a:off x="7068312" y="1517904"/>
            <a:ext cx="232257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3" name="TextBox 72"/>
          <p:cNvSpPr txBox="1"/>
          <p:nvPr/>
        </p:nvSpPr>
        <p:spPr>
          <a:xfrm>
            <a:off x="7095744" y="151790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rPr sz="700"/>
              <a:t>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3760" y="1527048"/>
            <a:ext cx="11411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rPr sz="900"/>
              <a:t>doc_id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1527048"/>
            <a:ext cx="11173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rPr sz="800"/>
              <a:t>BIGSERIAL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95744" y="171907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rPr sz="700"/>
              <a:t>·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23760" y="1728216"/>
            <a:ext cx="11411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sz="900"/>
              <a:t>source_type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9600" y="1728216"/>
            <a:ext cx="11173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rPr sz="800"/>
              <a:t>rag_source_t ENUM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068312" y="1920240"/>
            <a:ext cx="232257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0" name="TextBox 79"/>
          <p:cNvSpPr txBox="1"/>
          <p:nvPr/>
        </p:nvSpPr>
        <p:spPr>
          <a:xfrm>
            <a:off x="7095744" y="192024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rPr sz="700"/>
              <a:t>·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23760" y="1929384"/>
            <a:ext cx="11411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sz="900"/>
              <a:t>embedding_type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0" y="1929384"/>
            <a:ext cx="11173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rPr sz="800"/>
              <a:t>embedding_type_t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95744" y="212140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rPr sz="700"/>
              <a:t>·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23760" y="2130552"/>
            <a:ext cx="11411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sz="900"/>
              <a:t>content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0" y="2130552"/>
            <a:ext cx="11173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rPr sz="800"/>
              <a:t>TEXT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068312" y="2322576"/>
            <a:ext cx="232257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7" name="TextBox 86"/>
          <p:cNvSpPr txBox="1"/>
          <p:nvPr/>
        </p:nvSpPr>
        <p:spPr>
          <a:xfrm>
            <a:off x="7095744" y="232257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rPr sz="700"/>
              <a:t>·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23760" y="2331720"/>
            <a:ext cx="11411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sz="900"/>
              <a:t>priority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29600" y="2331720"/>
            <a:ext cx="11173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rPr sz="800"/>
              <a:t>SMALLINT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95744" y="252374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rPr sz="700"/>
              <a:t>·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23760" y="2532888"/>
            <a:ext cx="1141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sz="900"/>
              <a:t>needs_reembedding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29600" y="2532888"/>
            <a:ext cx="11173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rPr sz="800"/>
              <a:t>BOOLEAN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068312" y="2724912"/>
            <a:ext cx="232257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4" name="TextBox 93"/>
          <p:cNvSpPr txBox="1"/>
          <p:nvPr/>
        </p:nvSpPr>
        <p:spPr>
          <a:xfrm>
            <a:off x="7095744" y="272491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rPr sz="700"/>
              <a:t>·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223760" y="2734056"/>
            <a:ext cx="11411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sz="900"/>
              <a:t>content_tsv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29600" y="2734056"/>
            <a:ext cx="11173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rPr sz="800"/>
              <a:t>TSVECTOR (FTS)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756648" y="1161288"/>
            <a:ext cx="2066544" cy="1005840"/>
          </a:xfrm>
          <a:prstGeom prst="roundRect">
            <a:avLst>
              <a:gd name="adj" fmla="val 5000"/>
            </a:avLst>
          </a:prstGeom>
          <a:solidFill>
            <a:srgbClr val="020D0F"/>
          </a:solidFill>
          <a:ln>
            <a:noFill/>
          </a:ln>
          <a:effectLst>
            <a:glow rad="76200">
              <a:srgbClr val="06B6D4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8" name="Rounded Rectangle 97"/>
          <p:cNvSpPr/>
          <p:nvPr/>
        </p:nvSpPr>
        <p:spPr>
          <a:xfrm>
            <a:off x="9784080" y="1188719"/>
            <a:ext cx="2011680" cy="1095333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9" name="Rounded Rectangle 98"/>
          <p:cNvSpPr/>
          <p:nvPr/>
        </p:nvSpPr>
        <p:spPr>
          <a:xfrm>
            <a:off x="9802368" y="1207008"/>
            <a:ext cx="1975104" cy="292608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0" name="Oval 99"/>
          <p:cNvSpPr/>
          <p:nvPr/>
        </p:nvSpPr>
        <p:spPr>
          <a:xfrm>
            <a:off x="9875520" y="1280160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" name="TextBox 100"/>
          <p:cNvSpPr txBox="1"/>
          <p:nvPr/>
        </p:nvSpPr>
        <p:spPr>
          <a:xfrm>
            <a:off x="10012680" y="1225296"/>
            <a:ext cx="1691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6B6D4"/>
                </a:solidFill>
                <a:latin typeface="Consolas"/>
              </a:defRPr>
            </a:pPr>
            <a:r>
              <a:rPr sz="900"/>
              <a:t>rag.schema_embeddings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829800" y="1490472"/>
            <a:ext cx="1920240" cy="19050"/>
          </a:xfrm>
          <a:prstGeom prst="roundRect">
            <a:avLst/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" name="Rounded Rectangle 102"/>
          <p:cNvSpPr/>
          <p:nvPr/>
        </p:nvSpPr>
        <p:spPr>
          <a:xfrm>
            <a:off x="9811512" y="1517904"/>
            <a:ext cx="195681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4" name="TextBox 103"/>
          <p:cNvSpPr txBox="1"/>
          <p:nvPr/>
        </p:nvSpPr>
        <p:spPr>
          <a:xfrm>
            <a:off x="9838944" y="151790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rPr sz="700"/>
              <a:t>●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966960" y="1527048"/>
            <a:ext cx="965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rPr sz="900"/>
              <a:t>doc_id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789920" y="1527048"/>
            <a:ext cx="945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rPr sz="800"/>
              <a:t>BIGINT PK+FK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38944" y="171907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rPr sz="700"/>
              <a:t>·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966960" y="1728216"/>
            <a:ext cx="965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sz="900"/>
              <a:t>embedding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1728216"/>
            <a:ext cx="945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rPr sz="800"/>
              <a:t>vector(1024)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811512" y="1920240"/>
            <a:ext cx="195681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1" name="TextBox 110"/>
          <p:cNvSpPr txBox="1"/>
          <p:nvPr/>
        </p:nvSpPr>
        <p:spPr>
          <a:xfrm>
            <a:off x="9838944" y="192024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rPr sz="700"/>
              <a:t>·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966960" y="1929384"/>
            <a:ext cx="965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sz="900"/>
              <a:t>created_at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789920" y="1929384"/>
            <a:ext cx="945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rPr sz="800"/>
              <a:t>TIMESTAMPTZ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3108960" y="2066544"/>
            <a:ext cx="365760" cy="0"/>
          </a:xfrm>
          <a:prstGeom prst="line">
            <a:avLst/>
          </a:prstGeom>
          <a:ln w="25400">
            <a:solidFill>
              <a:srgbClr val="5060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418320" y="1664208"/>
            <a:ext cx="365760" cy="402336"/>
          </a:xfrm>
          <a:prstGeom prst="line">
            <a:avLst/>
          </a:prstGeom>
          <a:ln w="19050">
            <a:solidFill>
              <a:srgbClr val="06B6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2990088" y="2068609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06090"/>
                </a:solidFill>
                <a:latin typeface="Consolas"/>
              </a:defRPr>
            </a:pPr>
            <a:r>
              <a:rPr sz="800"/>
              <a:t>scored by ▸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196121" y="2068609"/>
            <a:ext cx="11210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6B6D4"/>
                </a:solidFill>
                <a:latin typeface="Consolas"/>
              </a:defRPr>
            </a:pPr>
            <a:r>
              <a:rPr sz="800" dirty="0"/>
              <a:t>generates ▸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040880" y="4754880"/>
            <a:ext cx="4754880" cy="1828800"/>
          </a:xfrm>
          <a:prstGeom prst="roundRect">
            <a:avLst>
              <a:gd name="adj" fmla="val 5000"/>
            </a:avLst>
          </a:prstGeom>
          <a:solidFill>
            <a:srgbClr val="04202C"/>
          </a:solidFill>
          <a:ln w="12700">
            <a:solidFill>
              <a:srgbClr val="104858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7132320" y="4800600"/>
            <a:ext cx="38100" cy="164592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100000">
                <a:srgbClr val="40D0E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315200" y="4864608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t>INDEX STRATEGY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15200" y="5166360"/>
            <a:ext cx="4206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Segoe UI"/>
              </a:defRPr>
            </a:pPr>
            <a:r>
              <a:t>IVFFlat with cosine ops, 100 lists.</a:t>
            </a:r>
            <a:br/>
            <a:r>
              <a:t>Approximate NN search in O(√n) vs O(n).</a:t>
            </a:r>
            <a:br/>
            <a:r>
              <a:t>4× speed improvement at 98% recall.</a:t>
            </a:r>
            <a:br/>
            <a:r>
              <a:t>Ideal for 260K+ embedding vectors.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rPr sz="1600" dirty="0"/>
              <a:t>03 — SCHEMA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F0FE"/>
                </a:solidFill>
                <a:latin typeface="Segoe UI"/>
              </a:defRPr>
            </a:pPr>
            <a:r>
              <a:t>Complete 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Segoe UI"/>
              </a:defRPr>
            </a:pPr>
            <a:r>
              <a:t>All four schemas interconnected — ecommerce transactions feed ML scoring, marketing campaigns track to orders, RAG embeddings power intelligent queries.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712" y="969952"/>
            <a:ext cx="11795760" cy="5669280"/>
          </a:xfrm>
          <a:prstGeom prst="roundRect">
            <a:avLst>
              <a:gd name="adj" fmla="val 3000"/>
            </a:avLst>
          </a:prstGeom>
          <a:solidFill>
            <a:srgbClr val="050810"/>
          </a:solidFill>
          <a:ln w="12700">
            <a:solidFill>
              <a:srgbClr val="1A2435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8328" y="1161288"/>
            <a:ext cx="1700784" cy="1005840"/>
          </a:xfrm>
          <a:prstGeom prst="roundRect">
            <a:avLst>
              <a:gd name="adj" fmla="val 5000"/>
            </a:avLst>
          </a:prstGeom>
          <a:solidFill>
            <a:srgbClr val="040911"/>
          </a:solidFill>
          <a:ln>
            <a:noFill/>
          </a:ln>
          <a:effectLst>
            <a:glow rad="76200">
              <a:srgbClr val="3B82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1645920" cy="950976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4048" y="1207008"/>
            <a:ext cx="1609344" cy="292608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22529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t>ecommerce.customers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490472"/>
            <a:ext cx="1554480" cy="19050"/>
          </a:xfrm>
          <a:prstGeom prst="roundRect">
            <a:avLst/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93192" y="1517904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" y="151790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527048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customer_id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1527048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171907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728216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customer_unique_id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1728216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" y="1920240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" y="192024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1929384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customer_city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1929384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VARCHAR(100)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50008" y="1161288"/>
            <a:ext cx="1975104" cy="1408176"/>
          </a:xfrm>
          <a:prstGeom prst="roundRect">
            <a:avLst>
              <a:gd name="adj" fmla="val 5000"/>
            </a:avLst>
          </a:prstGeom>
          <a:solidFill>
            <a:srgbClr val="040911"/>
          </a:solidFill>
          <a:ln>
            <a:noFill/>
          </a:ln>
          <a:effectLst>
            <a:glow rad="76200">
              <a:srgbClr val="3B82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377440" y="1188720"/>
            <a:ext cx="1920240" cy="1353312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395728" y="1207008"/>
            <a:ext cx="1883664" cy="292608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468880" y="128016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06040" y="12252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t>ecommerce.orders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23160" y="1490472"/>
            <a:ext cx="1828800" cy="19050"/>
          </a:xfrm>
          <a:prstGeom prst="roundRect">
            <a:avLst/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404872" y="1517904"/>
            <a:ext cx="186537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32304" y="151790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1527048"/>
            <a:ext cx="9217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order_id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1527048"/>
            <a:ext cx="902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2304" y="171907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0B981"/>
                </a:solidFill>
                <a:latin typeface="Consolas"/>
              </a:defRPr>
            </a:pPr>
            <a:r>
              <a:t>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1728216"/>
            <a:ext cx="9217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t>customer_id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1728216"/>
            <a:ext cx="902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FK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04872" y="1920240"/>
            <a:ext cx="186537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432304" y="192024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1929384"/>
            <a:ext cx="9217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order_status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1929384"/>
            <a:ext cx="902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ENUM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32304" y="212140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2130552"/>
            <a:ext cx="9217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total_revenue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2130552"/>
            <a:ext cx="902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NUMERIC(14,2)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04872" y="2322576"/>
            <a:ext cx="186537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32304" y="232257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0" y="2331720"/>
            <a:ext cx="9217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profit_margin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2331720"/>
            <a:ext cx="902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NUMERIC(7,4)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27448" y="1161288"/>
            <a:ext cx="1700784" cy="1207008"/>
          </a:xfrm>
          <a:prstGeom prst="roundRect">
            <a:avLst>
              <a:gd name="adj" fmla="val 5000"/>
            </a:avLst>
          </a:prstGeom>
          <a:solidFill>
            <a:srgbClr val="040911"/>
          </a:solidFill>
          <a:ln>
            <a:noFill/>
          </a:ln>
          <a:effectLst>
            <a:glow rad="76200">
              <a:srgbClr val="3B82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754880" y="1188720"/>
            <a:ext cx="1645920" cy="1152144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773168" y="1207008"/>
            <a:ext cx="1609344" cy="292608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4846320" y="128016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83480" y="122529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t>ecommerce.order_items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800600" y="1490472"/>
            <a:ext cx="1554480" cy="19050"/>
          </a:xfrm>
          <a:prstGeom prst="roundRect">
            <a:avLst/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782312" y="1517904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809744" y="151790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37760" y="1527048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77840" y="1527048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SERIAL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09744" y="171907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0B981"/>
                </a:solidFill>
                <a:latin typeface="Consolas"/>
              </a:defRPr>
            </a:pPr>
            <a:r>
              <a:t>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60" y="1728216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t>order_id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77840" y="1728216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FK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82312" y="1920240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809744" y="192024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0B981"/>
                </a:solidFill>
                <a:latin typeface="Consolas"/>
              </a:defRPr>
            </a:pPr>
            <a:r>
              <a:t>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37760" y="1929384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t>product_id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77840" y="1929384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FK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09744" y="212140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37760" y="2130552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price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77840" y="2130552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NUMERIC(12,2)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739128" y="1161288"/>
            <a:ext cx="1700784" cy="1005840"/>
          </a:xfrm>
          <a:prstGeom prst="roundRect">
            <a:avLst>
              <a:gd name="adj" fmla="val 5000"/>
            </a:avLst>
          </a:prstGeom>
          <a:solidFill>
            <a:srgbClr val="040911"/>
          </a:solidFill>
          <a:ln>
            <a:noFill/>
          </a:ln>
          <a:effectLst>
            <a:glow rad="76200">
              <a:srgbClr val="3B82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6766560" y="1188720"/>
            <a:ext cx="1645920" cy="950976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6784848" y="1207008"/>
            <a:ext cx="1609344" cy="292608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6858000" y="128016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995160" y="122529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t>ecommerce.products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12280" y="1490472"/>
            <a:ext cx="1554480" cy="19050"/>
          </a:xfrm>
          <a:prstGeom prst="roundRect">
            <a:avLst/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6793992" y="1517904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821424" y="151790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0" y="1527048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product_id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89520" y="1527048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21424" y="171907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49440" y="1728216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product_category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89520" y="1728216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VARCHAR(100)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793992" y="1920240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821424" y="192024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49440" y="1929384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unit_price_exp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89520" y="1929384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SMALLINT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750808" y="1161288"/>
            <a:ext cx="1700784" cy="1005840"/>
          </a:xfrm>
          <a:prstGeom prst="roundRect">
            <a:avLst>
              <a:gd name="adj" fmla="val 5000"/>
            </a:avLst>
          </a:prstGeom>
          <a:solidFill>
            <a:srgbClr val="040911"/>
          </a:solidFill>
          <a:ln>
            <a:noFill/>
          </a:ln>
          <a:effectLst>
            <a:glow rad="76200">
              <a:srgbClr val="3B82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8778240" y="1188720"/>
            <a:ext cx="1645920" cy="950976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8796528" y="1207008"/>
            <a:ext cx="1609344" cy="292608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8869680" y="128016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006840" y="122529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t>ecommerce.sellers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823960" y="1490472"/>
            <a:ext cx="1554480" cy="19050"/>
          </a:xfrm>
          <a:prstGeom prst="roundRect">
            <a:avLst/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805672" y="1517904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833104" y="151790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61120" y="1527048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seller_id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601200" y="1527048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33104" y="171907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61120" y="1728216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seller_city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601200" y="1728216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VARCHAR(100)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805672" y="1920240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833104" y="192024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61120" y="1929384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seller_state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601200" y="1929384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VARCHAR(100)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50008" y="3355848"/>
            <a:ext cx="1700784" cy="1207008"/>
          </a:xfrm>
          <a:prstGeom prst="roundRect">
            <a:avLst>
              <a:gd name="adj" fmla="val 5000"/>
            </a:avLst>
          </a:prstGeom>
          <a:solidFill>
            <a:srgbClr val="040911"/>
          </a:solidFill>
          <a:ln>
            <a:noFill/>
          </a:ln>
          <a:effectLst>
            <a:glow rad="76200">
              <a:srgbClr val="3B82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2377440" y="3383280"/>
            <a:ext cx="1645920" cy="1152144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2395728" y="3401568"/>
            <a:ext cx="1609344" cy="292608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468880" y="347472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606040" y="341985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t>ecommerce.payments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423160" y="3685032"/>
            <a:ext cx="1554480" cy="19050"/>
          </a:xfrm>
          <a:prstGeom prst="roundRect">
            <a:avLst/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2404872" y="3712464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2432304" y="37124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560320" y="3721608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id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200400" y="3721608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SERIAL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432304" y="39136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0B981"/>
                </a:solidFill>
                <a:latin typeface="Consolas"/>
              </a:defRPr>
            </a:pPr>
            <a:r>
              <a:t>◆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560320" y="3922776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t>order_id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200400" y="3922776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FK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404872" y="4114800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2432304" y="41148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468880" y="4123944"/>
            <a:ext cx="8814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dirty="0" err="1"/>
              <a:t>payment_type</a:t>
            </a:r>
            <a:endParaRPr dirty="0"/>
          </a:p>
        </p:txBody>
      </p:sp>
      <p:sp>
        <p:nvSpPr>
          <p:cNvPr id="117" name="TextBox 116"/>
          <p:cNvSpPr txBox="1"/>
          <p:nvPr/>
        </p:nvSpPr>
        <p:spPr>
          <a:xfrm>
            <a:off x="3200400" y="4123944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VARCHAR(50)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432304" y="431596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423160" y="4325112"/>
            <a:ext cx="9272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dirty="0" err="1"/>
              <a:t>payment_value</a:t>
            </a:r>
            <a:endParaRPr dirty="0"/>
          </a:p>
        </p:txBody>
      </p:sp>
      <p:sp>
        <p:nvSpPr>
          <p:cNvPr id="120" name="TextBox 119"/>
          <p:cNvSpPr txBox="1"/>
          <p:nvPr/>
        </p:nvSpPr>
        <p:spPr>
          <a:xfrm>
            <a:off x="3200400" y="4325112"/>
            <a:ext cx="85039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rPr dirty="0"/>
              <a:t>NUMERIC(12,2)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453128" y="3355848"/>
            <a:ext cx="1700784" cy="1207008"/>
          </a:xfrm>
          <a:prstGeom prst="roundRect">
            <a:avLst>
              <a:gd name="adj" fmla="val 5000"/>
            </a:avLst>
          </a:prstGeom>
          <a:solidFill>
            <a:srgbClr val="040911"/>
          </a:solidFill>
          <a:ln>
            <a:noFill/>
          </a:ln>
          <a:effectLst>
            <a:glow rad="76200">
              <a:srgbClr val="3B82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ounded Rectangle 121"/>
          <p:cNvSpPr/>
          <p:nvPr/>
        </p:nvSpPr>
        <p:spPr>
          <a:xfrm>
            <a:off x="4480560" y="3383280"/>
            <a:ext cx="1645920" cy="1152144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4498848" y="3401568"/>
            <a:ext cx="1609344" cy="292608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4572000" y="347472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709160" y="341985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t>ecommerce.shipping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526280" y="3685032"/>
            <a:ext cx="1554480" cy="19050"/>
          </a:xfrm>
          <a:prstGeom prst="roundRect">
            <a:avLst/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4507992" y="3712464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4535424" y="37124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663440" y="3721608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shipping_id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303520" y="3721608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535424" y="39136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0B981"/>
                </a:solidFill>
                <a:latin typeface="Consolas"/>
              </a:defRPr>
            </a:pPr>
            <a:r>
              <a:t>◆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663440" y="3922776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t>order_id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303520" y="3922776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FK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507992" y="4114800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535424" y="41148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663440" y="4123944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carrier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303520" y="4123944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VARCHAR(50)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535424" y="431596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453128" y="4325112"/>
            <a:ext cx="11247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dirty="0" err="1"/>
              <a:t>shipping_status</a:t>
            </a:r>
            <a:endParaRPr dirty="0"/>
          </a:p>
        </p:txBody>
      </p:sp>
      <p:sp>
        <p:nvSpPr>
          <p:cNvPr id="140" name="TextBox 139"/>
          <p:cNvSpPr txBox="1"/>
          <p:nvPr/>
        </p:nvSpPr>
        <p:spPr>
          <a:xfrm>
            <a:off x="5303520" y="4325112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VARCHAR(20)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556248" y="3355848"/>
            <a:ext cx="1700784" cy="1207008"/>
          </a:xfrm>
          <a:prstGeom prst="roundRect">
            <a:avLst>
              <a:gd name="adj" fmla="val 5000"/>
            </a:avLst>
          </a:prstGeom>
          <a:solidFill>
            <a:srgbClr val="040911"/>
          </a:solidFill>
          <a:ln>
            <a:noFill/>
          </a:ln>
          <a:effectLst>
            <a:glow rad="76200">
              <a:srgbClr val="3B82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ounded Rectangle 141"/>
          <p:cNvSpPr/>
          <p:nvPr/>
        </p:nvSpPr>
        <p:spPr>
          <a:xfrm>
            <a:off x="6583680" y="3383280"/>
            <a:ext cx="1645920" cy="1152144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42"/>
          <p:cNvSpPr/>
          <p:nvPr/>
        </p:nvSpPr>
        <p:spPr>
          <a:xfrm>
            <a:off x="6601968" y="3401568"/>
            <a:ext cx="1609344" cy="292608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6675120" y="347472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6812280" y="341985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t>ecommerce.reviews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629400" y="3685032"/>
            <a:ext cx="1554480" cy="19050"/>
          </a:xfrm>
          <a:prstGeom prst="roundRect">
            <a:avLst/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ounded Rectangle 146"/>
          <p:cNvSpPr/>
          <p:nvPr/>
        </p:nvSpPr>
        <p:spPr>
          <a:xfrm>
            <a:off x="6611112" y="3712464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6638544" y="37124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766560" y="3721608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review_id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406640" y="3721608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638544" y="39136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0B981"/>
                </a:solidFill>
                <a:latin typeface="Consolas"/>
              </a:defRPr>
            </a:pPr>
            <a:r>
              <a:t>◆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766560" y="3922776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t>order_id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406640" y="3922776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FK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611112" y="4114800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6638544" y="41148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766560" y="4123944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rating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406640" y="4123944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NUMERIC(2,1)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638544" y="431596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766560" y="4325112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sentiment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406640" y="4325112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SMALLINT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8659368" y="3355848"/>
            <a:ext cx="1700784" cy="1207008"/>
          </a:xfrm>
          <a:prstGeom prst="roundRect">
            <a:avLst>
              <a:gd name="adj" fmla="val 5000"/>
            </a:avLst>
          </a:prstGeom>
          <a:solidFill>
            <a:srgbClr val="040911"/>
          </a:solidFill>
          <a:ln>
            <a:noFill/>
          </a:ln>
          <a:effectLst>
            <a:glow rad="76200">
              <a:srgbClr val="3B82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ounded Rectangle 161"/>
          <p:cNvSpPr/>
          <p:nvPr/>
        </p:nvSpPr>
        <p:spPr>
          <a:xfrm>
            <a:off x="8686800" y="3383280"/>
            <a:ext cx="1645920" cy="1152144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ounded Rectangle 162"/>
          <p:cNvSpPr/>
          <p:nvPr/>
        </p:nvSpPr>
        <p:spPr>
          <a:xfrm>
            <a:off x="8705088" y="3401568"/>
            <a:ext cx="1609344" cy="292608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8778240" y="347472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8915400" y="341985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t>ecommerce.refunds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732520" y="3685032"/>
            <a:ext cx="1554480" cy="19050"/>
          </a:xfrm>
          <a:prstGeom prst="roundRect">
            <a:avLst/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ounded Rectangle 166"/>
          <p:cNvSpPr/>
          <p:nvPr/>
        </p:nvSpPr>
        <p:spPr>
          <a:xfrm>
            <a:off x="8714232" y="3712464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8741664" y="37124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869680" y="3721608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refund_id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509760" y="3721608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741664" y="39136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0B981"/>
                </a:solidFill>
                <a:latin typeface="Consolas"/>
              </a:defRPr>
            </a:pPr>
            <a:r>
              <a:t>◆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869680" y="3922776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t>order_id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9509760" y="3922776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FK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8714232" y="4114800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8741664" y="41148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659368" y="4123944"/>
            <a:ext cx="10003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dirty="0" err="1"/>
              <a:t>refund_amount</a:t>
            </a:r>
            <a:endParaRPr dirty="0"/>
          </a:p>
        </p:txBody>
      </p:sp>
      <p:sp>
        <p:nvSpPr>
          <p:cNvPr id="177" name="TextBox 176"/>
          <p:cNvSpPr txBox="1"/>
          <p:nvPr/>
        </p:nvSpPr>
        <p:spPr>
          <a:xfrm>
            <a:off x="9509760" y="4123944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NUMERIC(12,2)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741664" y="431596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732520" y="4325112"/>
            <a:ext cx="112923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dirty="0" err="1"/>
              <a:t>duplicate_refund</a:t>
            </a:r>
            <a:endParaRPr dirty="0"/>
          </a:p>
        </p:txBody>
      </p:sp>
      <p:sp>
        <p:nvSpPr>
          <p:cNvPr id="180" name="TextBox 179"/>
          <p:cNvSpPr txBox="1"/>
          <p:nvPr/>
        </p:nvSpPr>
        <p:spPr>
          <a:xfrm>
            <a:off x="9509760" y="4325112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BOOLEAN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338328" y="4910328"/>
            <a:ext cx="1975104" cy="1207008"/>
          </a:xfrm>
          <a:prstGeom prst="roundRect">
            <a:avLst>
              <a:gd name="adj" fmla="val 5000"/>
            </a:avLst>
          </a:prstGeom>
          <a:solidFill>
            <a:srgbClr val="090611"/>
          </a:solidFill>
          <a:ln>
            <a:noFill/>
          </a:ln>
          <a:effectLst>
            <a:glow rad="76200">
              <a:srgbClr val="8B5C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ounded Rectangle 181"/>
          <p:cNvSpPr/>
          <p:nvPr/>
        </p:nvSpPr>
        <p:spPr>
          <a:xfrm>
            <a:off x="365760" y="4937760"/>
            <a:ext cx="1920240" cy="1152144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2E1E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ounded Rectangle 182"/>
          <p:cNvSpPr/>
          <p:nvPr/>
        </p:nvSpPr>
        <p:spPr>
          <a:xfrm>
            <a:off x="384048" y="4956048"/>
            <a:ext cx="1883664" cy="292608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457200" y="5029200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594360" y="497433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8B5CF6"/>
                </a:solidFill>
                <a:latin typeface="Consolas"/>
              </a:defRPr>
            </a:pPr>
            <a:r>
              <a:t>ml_output.order_anomaly_scores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411480" y="5239512"/>
            <a:ext cx="1828800" cy="19050"/>
          </a:xfrm>
          <a:prstGeom prst="roundRect">
            <a:avLst/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ounded Rectangle 186"/>
          <p:cNvSpPr/>
          <p:nvPr/>
        </p:nvSpPr>
        <p:spPr>
          <a:xfrm>
            <a:off x="393192" y="5266944"/>
            <a:ext cx="186537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420624" y="526694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48640" y="5276088"/>
            <a:ext cx="9217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order_id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325880" y="5276088"/>
            <a:ext cx="902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PK + FK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20624" y="546811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48640" y="5477256"/>
            <a:ext cx="9217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ensemble_score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325880" y="5477256"/>
            <a:ext cx="902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NUMERIC(8,6)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393192" y="5669280"/>
            <a:ext cx="186537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420624" y="566928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48640" y="5678424"/>
            <a:ext cx="9217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risk_tier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325880" y="5678424"/>
            <a:ext cx="902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risk_tier_t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420624" y="587044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48640" y="5879592"/>
            <a:ext cx="9217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leakage_scenarios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325880" y="5879592"/>
            <a:ext cx="902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scenario_t[]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2624328" y="4910328"/>
            <a:ext cx="1700784" cy="1005840"/>
          </a:xfrm>
          <a:prstGeom prst="roundRect">
            <a:avLst>
              <a:gd name="adj" fmla="val 5000"/>
            </a:avLst>
          </a:prstGeom>
          <a:solidFill>
            <a:srgbClr val="090611"/>
          </a:solidFill>
          <a:ln>
            <a:noFill/>
          </a:ln>
          <a:effectLst>
            <a:glow rad="76200">
              <a:srgbClr val="8B5C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ounded Rectangle 201"/>
          <p:cNvSpPr/>
          <p:nvPr/>
        </p:nvSpPr>
        <p:spPr>
          <a:xfrm>
            <a:off x="2651760" y="4937760"/>
            <a:ext cx="1645920" cy="950976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2E1E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ounded Rectangle 202"/>
          <p:cNvSpPr/>
          <p:nvPr/>
        </p:nvSpPr>
        <p:spPr>
          <a:xfrm>
            <a:off x="2670048" y="4956048"/>
            <a:ext cx="1609344" cy="292608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2743200" y="5029200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2880360" y="497433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8B5CF6"/>
                </a:solidFill>
                <a:latin typeface="Consolas"/>
              </a:defRPr>
            </a:pPr>
            <a:r>
              <a:t>ml_output.order_leakage_reasons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2697480" y="5239512"/>
            <a:ext cx="1554480" cy="19050"/>
          </a:xfrm>
          <a:prstGeom prst="roundRect">
            <a:avLst/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ounded Rectangle 206"/>
          <p:cNvSpPr/>
          <p:nvPr/>
        </p:nvSpPr>
        <p:spPr>
          <a:xfrm>
            <a:off x="2679192" y="5266944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2706624" y="526694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2834640" y="5276088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order_id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3474720" y="5276088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706624" y="546811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834640" y="5477256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leakage_type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474720" y="5477256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VARCHAR(100)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2679192" y="5669280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2706624" y="566928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834640" y="5678424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confidence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3474720" y="5678424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NUMERIC(5,4)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4727448" y="4910328"/>
            <a:ext cx="1700784" cy="1207008"/>
          </a:xfrm>
          <a:prstGeom prst="roundRect">
            <a:avLst>
              <a:gd name="adj" fmla="val 5000"/>
            </a:avLst>
          </a:prstGeom>
          <a:solidFill>
            <a:srgbClr val="020D0F"/>
          </a:solidFill>
          <a:ln>
            <a:noFill/>
          </a:ln>
          <a:effectLst>
            <a:glow rad="76200">
              <a:srgbClr val="06B6D4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ounded Rectangle 218"/>
          <p:cNvSpPr/>
          <p:nvPr/>
        </p:nvSpPr>
        <p:spPr>
          <a:xfrm>
            <a:off x="4754880" y="4937760"/>
            <a:ext cx="1645920" cy="1234440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ounded Rectangle 219"/>
          <p:cNvSpPr/>
          <p:nvPr/>
        </p:nvSpPr>
        <p:spPr>
          <a:xfrm>
            <a:off x="4773168" y="4956048"/>
            <a:ext cx="1609344" cy="292608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4846320" y="5029200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4983480" y="497433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6B6D4"/>
                </a:solidFill>
                <a:latin typeface="Consolas"/>
              </a:defRPr>
            </a:pPr>
            <a:r>
              <a:t>rag.documents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4800600" y="5239512"/>
            <a:ext cx="1554480" cy="19050"/>
          </a:xfrm>
          <a:prstGeom prst="roundRect">
            <a:avLst/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ounded Rectangle 223"/>
          <p:cNvSpPr/>
          <p:nvPr/>
        </p:nvSpPr>
        <p:spPr>
          <a:xfrm>
            <a:off x="4782312" y="5266944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4809744" y="526694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4937760" y="5276088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doc_id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5577840" y="5276088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BIGSERIAL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809744" y="546811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4937760" y="5477256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source_type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5577840" y="5477256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ENUM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4782312" y="5669280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4809744" y="566928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4937760" y="5678424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content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577840" y="5678424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4809744" y="587044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937760" y="5879592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needs_reembedding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5577840" y="5879592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BOOLEAN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6739128" y="4910328"/>
            <a:ext cx="1700784" cy="1005840"/>
          </a:xfrm>
          <a:prstGeom prst="roundRect">
            <a:avLst>
              <a:gd name="adj" fmla="val 5000"/>
            </a:avLst>
          </a:prstGeom>
          <a:solidFill>
            <a:srgbClr val="020D0F"/>
          </a:solidFill>
          <a:ln>
            <a:noFill/>
          </a:ln>
          <a:effectLst>
            <a:glow rad="76200">
              <a:srgbClr val="06B6D4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ounded Rectangle 238"/>
          <p:cNvSpPr/>
          <p:nvPr/>
        </p:nvSpPr>
        <p:spPr>
          <a:xfrm>
            <a:off x="6766560" y="4937760"/>
            <a:ext cx="1645920" cy="950976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ounded Rectangle 239"/>
          <p:cNvSpPr/>
          <p:nvPr/>
        </p:nvSpPr>
        <p:spPr>
          <a:xfrm>
            <a:off x="6784848" y="4956048"/>
            <a:ext cx="1609344" cy="292608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6858000" y="5029200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6995160" y="497433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6B6D4"/>
                </a:solidFill>
                <a:latin typeface="Consolas"/>
              </a:defRPr>
            </a:pPr>
            <a:r>
              <a:t>rag.schema_embeddings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6812280" y="5239512"/>
            <a:ext cx="1554480" cy="19050"/>
          </a:xfrm>
          <a:prstGeom prst="roundRect">
            <a:avLst/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6793992" y="5266944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6821424" y="526694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6949440" y="5276088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doc_id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7589520" y="5276088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BIGINT PK+FK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6821424" y="546811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949440" y="5477256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embedding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7589520" y="5477256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vector(1024)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6793992" y="5669280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6821424" y="566928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6949440" y="5678424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created_at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589520" y="5678424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TIMESTAMPTZ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8750808" y="4910328"/>
            <a:ext cx="1700784" cy="1207008"/>
          </a:xfrm>
          <a:prstGeom prst="roundRect">
            <a:avLst>
              <a:gd name="adj" fmla="val 5000"/>
            </a:avLst>
          </a:prstGeom>
          <a:solidFill>
            <a:srgbClr val="020D09"/>
          </a:solidFill>
          <a:ln>
            <a:noFill/>
          </a:ln>
          <a:effectLst>
            <a:glow rad="76200">
              <a:srgbClr val="10B981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ounded Rectangle 255"/>
          <p:cNvSpPr/>
          <p:nvPr/>
        </p:nvSpPr>
        <p:spPr>
          <a:xfrm>
            <a:off x="8778240" y="4937760"/>
            <a:ext cx="1645920" cy="1152144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053D2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ounded Rectangle 256"/>
          <p:cNvSpPr/>
          <p:nvPr/>
        </p:nvSpPr>
        <p:spPr>
          <a:xfrm>
            <a:off x="8796528" y="4956048"/>
            <a:ext cx="1609344" cy="292608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8869680" y="502920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9006840" y="497433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0B981"/>
                </a:solidFill>
                <a:latin typeface="Consolas"/>
              </a:defRPr>
            </a:pPr>
            <a:r>
              <a:t>marketing.campaigns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8823960" y="5239512"/>
            <a:ext cx="1554480" cy="19050"/>
          </a:xfrm>
          <a:prstGeom prst="roundRect">
            <a:avLst/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ounded Rectangle 260"/>
          <p:cNvSpPr/>
          <p:nvPr/>
        </p:nvSpPr>
        <p:spPr>
          <a:xfrm>
            <a:off x="8805672" y="5266944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8833104" y="526694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8961120" y="5276088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campaign_id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9601200" y="5276088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VARCHAR(20)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8833104" y="546811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8961120" y="5477256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campaign_name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9601200" y="5477256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VARCHAR(200)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8805672" y="5669280"/>
            <a:ext cx="1591056" cy="201168"/>
          </a:xfrm>
          <a:prstGeom prst="roundRect">
            <a:avLst>
              <a:gd name="adj" fmla="val 3000"/>
            </a:avLst>
          </a:prstGeom>
          <a:solidFill>
            <a:srgbClr val="03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8833104" y="566928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8961120" y="5678424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channel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9601200" y="5678424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VARCHAR(50)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833104" y="587044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8961120" y="5879592"/>
            <a:ext cx="790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budget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9601200" y="5879592"/>
            <a:ext cx="7735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NUMERIC(14,2)</a:t>
            </a:r>
          </a:p>
        </p:txBody>
      </p:sp>
      <p:cxnSp>
        <p:nvCxnSpPr>
          <p:cNvPr id="275" name="Connector 274"/>
          <p:cNvCxnSpPr/>
          <p:nvPr/>
        </p:nvCxnSpPr>
        <p:spPr>
          <a:xfrm>
            <a:off x="2011680" y="1664208"/>
            <a:ext cx="365760" cy="201168"/>
          </a:xfrm>
          <a:prstGeom prst="line">
            <a:avLst/>
          </a:prstGeom>
          <a:ln w="25400">
            <a:solidFill>
              <a:srgbClr val="306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4297680" y="1764792"/>
            <a:ext cx="457200" cy="100584"/>
          </a:xfrm>
          <a:prstGeom prst="line">
            <a:avLst/>
          </a:prstGeom>
          <a:ln w="25400">
            <a:solidFill>
              <a:srgbClr val="306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6400800" y="1664208"/>
            <a:ext cx="365760" cy="100584"/>
          </a:xfrm>
          <a:prstGeom prst="line">
            <a:avLst/>
          </a:prstGeom>
          <a:ln w="19050">
            <a:solidFill>
              <a:srgbClr val="306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8412480" y="1664208"/>
            <a:ext cx="365760" cy="0"/>
          </a:xfrm>
          <a:prstGeom prst="line">
            <a:avLst/>
          </a:prstGeom>
          <a:ln w="19050">
            <a:solidFill>
              <a:srgbClr val="306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2743200" y="2542032"/>
            <a:ext cx="457200" cy="841248"/>
          </a:xfrm>
          <a:prstGeom prst="line">
            <a:avLst/>
          </a:prstGeom>
          <a:ln w="19050">
            <a:solidFill>
              <a:srgbClr val="306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3200400" y="2542032"/>
            <a:ext cx="2103120" cy="841248"/>
          </a:xfrm>
          <a:prstGeom prst="line">
            <a:avLst/>
          </a:prstGeom>
          <a:ln w="19050">
            <a:solidFill>
              <a:srgbClr val="306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3657600" y="2542032"/>
            <a:ext cx="3749040" cy="841248"/>
          </a:xfrm>
          <a:prstGeom prst="line">
            <a:avLst/>
          </a:prstGeom>
          <a:ln w="19050">
            <a:solidFill>
              <a:srgbClr val="306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4023360" y="2542032"/>
            <a:ext cx="5486400" cy="841248"/>
          </a:xfrm>
          <a:prstGeom prst="line">
            <a:avLst/>
          </a:prstGeom>
          <a:ln w="19050">
            <a:solidFill>
              <a:srgbClr val="306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H="1">
            <a:off x="2286000" y="2542032"/>
            <a:ext cx="91440" cy="2971800"/>
          </a:xfrm>
          <a:prstGeom prst="line">
            <a:avLst/>
          </a:prstGeom>
          <a:ln w="25400">
            <a:solidFill>
              <a:srgbClr val="6040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2286000" y="5413248"/>
            <a:ext cx="365760" cy="100584"/>
          </a:xfrm>
          <a:prstGeom prst="line">
            <a:avLst/>
          </a:prstGeom>
          <a:ln w="19050">
            <a:solidFill>
              <a:srgbClr val="6040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6400800" y="5413248"/>
            <a:ext cx="365760" cy="100584"/>
          </a:xfrm>
          <a:prstGeom prst="line">
            <a:avLst/>
          </a:prstGeom>
          <a:ln w="19050">
            <a:solidFill>
              <a:srgbClr val="0880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8778240" y="4535424"/>
            <a:ext cx="1554480" cy="402336"/>
          </a:xfrm>
          <a:prstGeom prst="line">
            <a:avLst/>
          </a:prstGeom>
          <a:ln w="15240">
            <a:solidFill>
              <a:srgbClr val="108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Oval 286"/>
          <p:cNvSpPr/>
          <p:nvPr/>
        </p:nvSpPr>
        <p:spPr>
          <a:xfrm>
            <a:off x="457200" y="63367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TextBox 287"/>
          <p:cNvSpPr txBox="1"/>
          <p:nvPr/>
        </p:nvSpPr>
        <p:spPr>
          <a:xfrm>
            <a:off x="640080" y="63093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t>ecommerce</a:t>
            </a:r>
          </a:p>
        </p:txBody>
      </p:sp>
      <p:sp>
        <p:nvSpPr>
          <p:cNvPr id="289" name="Oval 288"/>
          <p:cNvSpPr/>
          <p:nvPr/>
        </p:nvSpPr>
        <p:spPr>
          <a:xfrm>
            <a:off x="2286000" y="6336792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2468880" y="63093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8B5CF6"/>
                </a:solidFill>
                <a:latin typeface="Consolas"/>
              </a:defRPr>
            </a:pPr>
            <a:r>
              <a:t>ml_output</a:t>
            </a:r>
          </a:p>
        </p:txBody>
      </p:sp>
      <p:sp>
        <p:nvSpPr>
          <p:cNvPr id="291" name="Oval 290"/>
          <p:cNvSpPr/>
          <p:nvPr/>
        </p:nvSpPr>
        <p:spPr>
          <a:xfrm>
            <a:off x="4114800" y="6336792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TextBox 291"/>
          <p:cNvSpPr txBox="1"/>
          <p:nvPr/>
        </p:nvSpPr>
        <p:spPr>
          <a:xfrm>
            <a:off x="4297680" y="63093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6B6D4"/>
                </a:solidFill>
                <a:latin typeface="Consolas"/>
              </a:defRPr>
            </a:pPr>
            <a:r>
              <a:t>rag</a:t>
            </a:r>
          </a:p>
        </p:txBody>
      </p:sp>
      <p:sp>
        <p:nvSpPr>
          <p:cNvPr id="293" name="Oval 292"/>
          <p:cNvSpPr/>
          <p:nvPr/>
        </p:nvSpPr>
        <p:spPr>
          <a:xfrm>
            <a:off x="5943600" y="633679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TextBox 293"/>
          <p:cNvSpPr txBox="1"/>
          <p:nvPr/>
        </p:nvSpPr>
        <p:spPr>
          <a:xfrm>
            <a:off x="6126480" y="63093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0B981"/>
                </a:solidFill>
                <a:latin typeface="Consolas"/>
              </a:defRPr>
            </a:pPr>
            <a:r>
              <a:t>marketing</a:t>
            </a:r>
          </a:p>
        </p:txBody>
      </p:sp>
      <p:cxnSp>
        <p:nvCxnSpPr>
          <p:cNvPr id="295" name="Connector 294"/>
          <p:cNvCxnSpPr/>
          <p:nvPr/>
        </p:nvCxnSpPr>
        <p:spPr>
          <a:xfrm>
            <a:off x="7772400" y="6382512"/>
            <a:ext cx="731520" cy="0"/>
          </a:xfrm>
          <a:prstGeom prst="line">
            <a:avLst/>
          </a:prstGeom>
          <a:ln w="19050">
            <a:solidFill>
              <a:srgbClr val="6040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TextBox 295"/>
          <p:cNvSpPr txBox="1"/>
          <p:nvPr/>
        </p:nvSpPr>
        <p:spPr>
          <a:xfrm>
            <a:off x="8595360" y="63093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FA3"/>
                </a:solidFill>
                <a:latin typeface="Consolas"/>
              </a:defRPr>
            </a:pPr>
            <a:r>
              <a:t>Cross-schema FK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rPr sz="1600" dirty="0"/>
              <a:t>03 — SCHEMA DESIGN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411480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F0FE"/>
                </a:solidFill>
                <a:latin typeface="Segoe UI"/>
              </a:defRPr>
            </a:pPr>
            <a:r>
              <a:t>RAG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FA3"/>
                </a:solidFill>
                <a:latin typeface="Segoe UI"/>
              </a:defRPr>
            </a:pPr>
            <a:r>
              <a:t>Vector embeddings organized by type with versioning, retrieval logging, and security controls.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914400"/>
            <a:ext cx="11795760" cy="5760720"/>
          </a:xfrm>
          <a:prstGeom prst="roundRect">
            <a:avLst>
              <a:gd name="adj" fmla="val 3000"/>
            </a:avLst>
          </a:prstGeom>
          <a:solidFill>
            <a:srgbClr val="030A10"/>
          </a:solidFill>
          <a:ln w="12700">
            <a:solidFill>
              <a:srgbClr val="083040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04488" y="1069848"/>
            <a:ext cx="2615184" cy="3218688"/>
          </a:xfrm>
          <a:prstGeom prst="roundRect">
            <a:avLst>
              <a:gd name="adj" fmla="val 5000"/>
            </a:avLst>
          </a:prstGeom>
          <a:solidFill>
            <a:srgbClr val="020D0F"/>
          </a:solidFill>
          <a:ln>
            <a:noFill/>
          </a:ln>
          <a:effectLst>
            <a:glow rad="76200">
              <a:srgbClr val="06B6D4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931920" y="1097280"/>
            <a:ext cx="2560320" cy="3163824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50208" y="1115568"/>
            <a:ext cx="2523744" cy="292608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023360" y="1188720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0520" y="113385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6B6D4"/>
                </a:solidFill>
                <a:latin typeface="Consolas"/>
              </a:defRPr>
            </a:pPr>
            <a:r>
              <a:t>rag.documents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40" y="1399032"/>
            <a:ext cx="2468880" cy="19050"/>
          </a:xfrm>
          <a:prstGeom prst="roundRect">
            <a:avLst/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959352" y="1426464"/>
            <a:ext cx="250545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86784" y="14264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435608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doc_id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435608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BIGSERIAL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6784" y="16276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1636776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source_type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1636776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rag_source_t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9352" y="1828800"/>
            <a:ext cx="250545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86784" y="18288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1837944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source_id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1837944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86784" y="202996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039112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title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039112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59352" y="2231136"/>
            <a:ext cx="250545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86784" y="223113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2240280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content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2240280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86784" y="243230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2441448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content_lang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2441448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59352" y="2633472"/>
            <a:ext cx="250545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86784" y="263347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2642616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metadata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2642616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JSONB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86784" y="283464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2843784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embedding_type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2843784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embedding_type_t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59352" y="3035808"/>
            <a:ext cx="250545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986784" y="303580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3044952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priority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0" y="3044952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SMALLINT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86784" y="323697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3246120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retrieval_weight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0" y="3246120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NUMERIC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59352" y="3438144"/>
            <a:ext cx="250545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986784" y="343814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3447288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version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3447288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INTEGER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86784" y="363931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3648456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is_active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80" y="3648456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BOOLEAN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959352" y="3840480"/>
            <a:ext cx="250545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986784" y="384048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3849624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needs_reembedding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12080" y="3849624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BOOLEAN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86784" y="404164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0" y="4050792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content_tsv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12080" y="4050792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TSVECTOR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8328" y="1069848"/>
            <a:ext cx="2066544" cy="1005840"/>
          </a:xfrm>
          <a:prstGeom prst="roundRect">
            <a:avLst>
              <a:gd name="adj" fmla="val 5000"/>
            </a:avLst>
          </a:prstGeom>
          <a:solidFill>
            <a:srgbClr val="020D0F"/>
          </a:solidFill>
          <a:ln>
            <a:noFill/>
          </a:ln>
          <a:effectLst>
            <a:glow rad="76200">
              <a:srgbClr val="06B6D4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65760" y="1097280"/>
            <a:ext cx="2011680" cy="950976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384048" y="1115568"/>
            <a:ext cx="1975104" cy="292608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457200" y="1188720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94360" y="113385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6B6D4"/>
                </a:solidFill>
                <a:latin typeface="Consolas"/>
              </a:defRPr>
            </a:pPr>
            <a:r>
              <a:t>rag.schema_embeddings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11480" y="1399032"/>
            <a:ext cx="1920240" cy="19050"/>
          </a:xfrm>
          <a:prstGeom prst="roundRect">
            <a:avLst/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393192" y="1426464"/>
            <a:ext cx="195681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20624" y="14264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1435608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doc_id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71600" y="1435608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BIGINT PK+FK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0624" y="16276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1636776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embedding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71600" y="1636776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vector(1024)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93192" y="1828800"/>
            <a:ext cx="195681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20624" y="18288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1837944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created_at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71600" y="1837944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TIMESTAMPTZ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38328" y="2350008"/>
            <a:ext cx="2066544" cy="1005840"/>
          </a:xfrm>
          <a:prstGeom prst="roundRect">
            <a:avLst>
              <a:gd name="adj" fmla="val 5000"/>
            </a:avLst>
          </a:prstGeom>
          <a:solidFill>
            <a:srgbClr val="020D0F"/>
          </a:solidFill>
          <a:ln>
            <a:noFill/>
          </a:ln>
          <a:effectLst>
            <a:glow rad="76200">
              <a:srgbClr val="06B6D4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365760" y="2377440"/>
            <a:ext cx="2011680" cy="950976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384048" y="2395728"/>
            <a:ext cx="1975104" cy="292608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457200" y="2468880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94360" y="241401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6B6D4"/>
                </a:solidFill>
                <a:latin typeface="Consolas"/>
              </a:defRPr>
            </a:pPr>
            <a:r>
              <a:t>rag.review_embeddings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11480" y="2679192"/>
            <a:ext cx="1920240" cy="19050"/>
          </a:xfrm>
          <a:prstGeom prst="roundRect">
            <a:avLst/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393192" y="2706624"/>
            <a:ext cx="195681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20624" y="270662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" y="2715768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doc_id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71600" y="2715768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BIGINT PK+FK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0624" y="290779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2916936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embedding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71600" y="2916936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vector(1024)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93192" y="3108960"/>
            <a:ext cx="195681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20624" y="310896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3118104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created_at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71600" y="3118104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TIMESTAMPTZ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38328" y="3630168"/>
            <a:ext cx="2066544" cy="1005840"/>
          </a:xfrm>
          <a:prstGeom prst="roundRect">
            <a:avLst>
              <a:gd name="adj" fmla="val 5000"/>
            </a:avLst>
          </a:prstGeom>
          <a:solidFill>
            <a:srgbClr val="020D0F"/>
          </a:solidFill>
          <a:ln>
            <a:noFill/>
          </a:ln>
          <a:effectLst>
            <a:glow rad="76200">
              <a:srgbClr val="06B6D4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365760" y="3657600"/>
            <a:ext cx="2011680" cy="950976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384048" y="3675888"/>
            <a:ext cx="1975104" cy="292608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457200" y="3749040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94360" y="369417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6B6D4"/>
                </a:solidFill>
                <a:latin typeface="Consolas"/>
              </a:defRPr>
            </a:pPr>
            <a:r>
              <a:t>rag.business_embeddings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11480" y="3959352"/>
            <a:ext cx="1920240" cy="19050"/>
          </a:xfrm>
          <a:prstGeom prst="roundRect">
            <a:avLst/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393192" y="3986784"/>
            <a:ext cx="195681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20624" y="398678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3995928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doc_id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371600" y="3995928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BIGINT PK+FK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0624" y="418795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" y="4197096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embedding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371600" y="4197096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vector(1024)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93192" y="4389120"/>
            <a:ext cx="195681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20624" y="438912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8640" y="4398264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created_at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371600" y="4398264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TIMESTAMPTZ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38328" y="4910328"/>
            <a:ext cx="2066544" cy="1005840"/>
          </a:xfrm>
          <a:prstGeom prst="roundRect">
            <a:avLst>
              <a:gd name="adj" fmla="val 5000"/>
            </a:avLst>
          </a:prstGeom>
          <a:solidFill>
            <a:srgbClr val="020D0F"/>
          </a:solidFill>
          <a:ln>
            <a:noFill/>
          </a:ln>
          <a:effectLst>
            <a:glow rad="76200">
              <a:srgbClr val="06B6D4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365760" y="4937760"/>
            <a:ext cx="2011680" cy="950976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384048" y="4956048"/>
            <a:ext cx="1975104" cy="292608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457200" y="5029200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94360" y="497433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6B6D4"/>
                </a:solidFill>
                <a:latin typeface="Consolas"/>
              </a:defRPr>
            </a:pPr>
            <a:r>
              <a:t>rag.metrics_embeddings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11480" y="5239512"/>
            <a:ext cx="1920240" cy="19050"/>
          </a:xfrm>
          <a:prstGeom prst="roundRect">
            <a:avLst/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393192" y="5266944"/>
            <a:ext cx="195681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420624" y="526694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48640" y="5276088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doc_id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371600" y="5276088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BIGINT PK+FK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20624" y="546811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48640" y="5477256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embedding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371600" y="5477256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vector(1024)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93192" y="5669280"/>
            <a:ext cx="195681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420624" y="566928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48640" y="5678424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created_at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371600" y="5678424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TIMESTAMPTZ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7287768" y="1069848"/>
            <a:ext cx="2066544" cy="1609344"/>
          </a:xfrm>
          <a:prstGeom prst="roundRect">
            <a:avLst>
              <a:gd name="adj" fmla="val 5000"/>
            </a:avLst>
          </a:prstGeom>
          <a:solidFill>
            <a:srgbClr val="020D0F"/>
          </a:solidFill>
          <a:ln>
            <a:noFill/>
          </a:ln>
          <a:effectLst>
            <a:glow rad="76200">
              <a:srgbClr val="06B6D4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ounded Rectangle 130"/>
          <p:cNvSpPr/>
          <p:nvPr/>
        </p:nvSpPr>
        <p:spPr>
          <a:xfrm>
            <a:off x="7315200" y="1097280"/>
            <a:ext cx="2011680" cy="1554480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ounded Rectangle 131"/>
          <p:cNvSpPr/>
          <p:nvPr/>
        </p:nvSpPr>
        <p:spPr>
          <a:xfrm>
            <a:off x="7333488" y="1115568"/>
            <a:ext cx="1975104" cy="292608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7406640" y="1188720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7543800" y="113385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6B6D4"/>
                </a:solidFill>
                <a:latin typeface="Consolas"/>
              </a:defRPr>
            </a:pPr>
            <a:r>
              <a:t>rag.document_versions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360920" y="1399032"/>
            <a:ext cx="1920240" cy="19050"/>
          </a:xfrm>
          <a:prstGeom prst="roundRect">
            <a:avLst/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ounded Rectangle 135"/>
          <p:cNvSpPr/>
          <p:nvPr/>
        </p:nvSpPr>
        <p:spPr>
          <a:xfrm>
            <a:off x="7342632" y="1426464"/>
            <a:ext cx="195681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7370064" y="14264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498080" y="1435608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version_id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321040" y="1435608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BIGSERIAL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370064" y="16276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0B981"/>
                </a:solidFill>
                <a:latin typeface="Consolas"/>
              </a:defRPr>
            </a:pPr>
            <a:r>
              <a:t>◆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498080" y="1636776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t>doc_id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321040" y="1636776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BIGINT FK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342632" y="1828800"/>
            <a:ext cx="195681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7370064" y="18288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498080" y="1837944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version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321040" y="1837944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INTEGER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70064" y="202996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498080" y="2039112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content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321040" y="2039112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7342632" y="2231136"/>
            <a:ext cx="195681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370064" y="223113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498080" y="2240280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changed_at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321040" y="2240280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TIMESTAMPTZ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370064" y="243230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498080" y="2441448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changed_by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321040" y="2441448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287768" y="2898648"/>
            <a:ext cx="2066544" cy="1408176"/>
          </a:xfrm>
          <a:prstGeom prst="roundRect">
            <a:avLst>
              <a:gd name="adj" fmla="val 5000"/>
            </a:avLst>
          </a:prstGeom>
          <a:solidFill>
            <a:srgbClr val="020D0F"/>
          </a:solidFill>
          <a:ln>
            <a:noFill/>
          </a:ln>
          <a:effectLst>
            <a:glow rad="76200">
              <a:srgbClr val="06B6D4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7315200" y="2926080"/>
            <a:ext cx="2011680" cy="1353312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ounded Rectangle 158"/>
          <p:cNvSpPr/>
          <p:nvPr/>
        </p:nvSpPr>
        <p:spPr>
          <a:xfrm>
            <a:off x="7333488" y="2944368"/>
            <a:ext cx="1975104" cy="292608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7406640" y="3017520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7543800" y="296265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6B6D4"/>
                </a:solidFill>
                <a:latin typeface="Consolas"/>
              </a:defRPr>
            </a:pPr>
            <a:r>
              <a:t>rag.sql_guard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7360920" y="3227832"/>
            <a:ext cx="1920240" cy="19050"/>
          </a:xfrm>
          <a:prstGeom prst="roundRect">
            <a:avLst/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ounded Rectangle 162"/>
          <p:cNvSpPr/>
          <p:nvPr/>
        </p:nvSpPr>
        <p:spPr>
          <a:xfrm>
            <a:off x="7342632" y="3255264"/>
            <a:ext cx="195681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7370064" y="32552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498080" y="3264408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guard_id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321040" y="3264408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SERIAL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370064" y="34564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498080" y="3465576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guard_type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321040" y="3465576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7342632" y="3657600"/>
            <a:ext cx="195681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7370064" y="36576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498080" y="3666744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pattern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321040" y="3666744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370064" y="385876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498080" y="3867912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message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321040" y="3867912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7342632" y="4059936"/>
            <a:ext cx="195681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370064" y="405993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498080" y="4069080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guard_mode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321040" y="4069080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7287768" y="4544568"/>
            <a:ext cx="2432304" cy="1810512"/>
          </a:xfrm>
          <a:prstGeom prst="roundRect">
            <a:avLst>
              <a:gd name="adj" fmla="val 5000"/>
            </a:avLst>
          </a:prstGeom>
          <a:solidFill>
            <a:srgbClr val="020D0F"/>
          </a:solidFill>
          <a:ln>
            <a:noFill/>
          </a:ln>
          <a:effectLst>
            <a:glow rad="76200">
              <a:srgbClr val="06B6D4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ounded Rectangle 181"/>
          <p:cNvSpPr/>
          <p:nvPr/>
        </p:nvSpPr>
        <p:spPr>
          <a:xfrm>
            <a:off x="7315200" y="4572000"/>
            <a:ext cx="2377440" cy="1755648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ounded Rectangle 182"/>
          <p:cNvSpPr/>
          <p:nvPr/>
        </p:nvSpPr>
        <p:spPr>
          <a:xfrm>
            <a:off x="7333488" y="4590288"/>
            <a:ext cx="2340864" cy="292608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7406640" y="4663440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7543800" y="460857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6B6D4"/>
                </a:solidFill>
                <a:latin typeface="Consolas"/>
              </a:defRPr>
            </a:pPr>
            <a:r>
              <a:t>rag.retrieval_log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7360920" y="4873752"/>
            <a:ext cx="2286000" cy="19050"/>
          </a:xfrm>
          <a:prstGeom prst="roundRect">
            <a:avLst/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ounded Rectangle 186"/>
          <p:cNvSpPr/>
          <p:nvPr/>
        </p:nvSpPr>
        <p:spPr>
          <a:xfrm>
            <a:off x="7342632" y="4901184"/>
            <a:ext cx="232257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7370064" y="490118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498080" y="4910328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log_id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503920" y="4910328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BIGSERIAL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7370064" y="510235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498080" y="5111496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query_text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503920" y="5111496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7342632" y="5303520"/>
            <a:ext cx="232257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7370064" y="530352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498080" y="5312664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retrieved_doc_ids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503920" y="5312664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BIGINT[]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370064" y="550468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498080" y="5513832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generated_sql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503920" y="5513832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7342632" y="5705856"/>
            <a:ext cx="232257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7370064" y="570585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7498080" y="5715000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hallucination_flag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503920" y="5715000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BOOLEAN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370064" y="590702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7498080" y="5916168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confidence_score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503920" y="5916168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NUMERIC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7342632" y="6108192"/>
            <a:ext cx="232257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7370064" y="610819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498080" y="6117336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latency_ms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503920" y="6117336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INTEGER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10030968" y="4544568"/>
            <a:ext cx="1792224" cy="1408176"/>
          </a:xfrm>
          <a:prstGeom prst="roundRect">
            <a:avLst>
              <a:gd name="adj" fmla="val 5000"/>
            </a:avLst>
          </a:prstGeom>
          <a:solidFill>
            <a:srgbClr val="020D0F"/>
          </a:solidFill>
          <a:ln>
            <a:noFill/>
          </a:ln>
          <a:effectLst>
            <a:glow rad="76200">
              <a:srgbClr val="06B6D4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ounded Rectangle 212"/>
          <p:cNvSpPr/>
          <p:nvPr/>
        </p:nvSpPr>
        <p:spPr>
          <a:xfrm>
            <a:off x="10058400" y="4572000"/>
            <a:ext cx="1737360" cy="1353312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ounded Rectangle 213"/>
          <p:cNvSpPr/>
          <p:nvPr/>
        </p:nvSpPr>
        <p:spPr>
          <a:xfrm>
            <a:off x="10076688" y="4590288"/>
            <a:ext cx="1700784" cy="292608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10149840" y="4663440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10287000" y="460857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6B6D4"/>
                </a:solidFill>
                <a:latin typeface="Consolas"/>
              </a:defRPr>
            </a:pPr>
            <a:r>
              <a:t>rag.retrieval_cache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0104120" y="4873752"/>
            <a:ext cx="1645920" cy="19050"/>
          </a:xfrm>
          <a:prstGeom prst="roundRect">
            <a:avLst/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ounded Rectangle 217"/>
          <p:cNvSpPr/>
          <p:nvPr/>
        </p:nvSpPr>
        <p:spPr>
          <a:xfrm>
            <a:off x="10085832" y="4901184"/>
            <a:ext cx="168249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10113264" y="490118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241280" y="4910328"/>
            <a:ext cx="8339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cache_key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927080" y="4910328"/>
            <a:ext cx="8165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0113264" y="510235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0241280" y="5111496"/>
            <a:ext cx="8339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query_hash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927080" y="5111496"/>
            <a:ext cx="8165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10085832" y="5303520"/>
            <a:ext cx="168249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10113264" y="530352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241280" y="5312664"/>
            <a:ext cx="8339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result_json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0927080" y="5312664"/>
            <a:ext cx="8165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JSONB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0113264" y="550468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0241280" y="5513832"/>
            <a:ext cx="8339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hit_count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0927080" y="5513832"/>
            <a:ext cx="8165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INTEGER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10085832" y="5705856"/>
            <a:ext cx="1682496" cy="201168"/>
          </a:xfrm>
          <a:prstGeom prst="roundRect">
            <a:avLst>
              <a:gd name="adj" fmla="val 3000"/>
            </a:avLst>
          </a:prstGeom>
          <a:solidFill>
            <a:srgbClr val="03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10113264" y="570585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241280" y="5715000"/>
            <a:ext cx="8339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expires_at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0927080" y="5715000"/>
            <a:ext cx="8165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9A1B0"/>
                </a:solidFill>
                <a:latin typeface="Consolas"/>
              </a:defRPr>
            </a:pPr>
            <a:r>
              <a:t>TIMESTAMPTZ</a:t>
            </a:r>
          </a:p>
        </p:txBody>
      </p:sp>
      <p:cxnSp>
        <p:nvCxnSpPr>
          <p:cNvPr id="236" name="Connector 235"/>
          <p:cNvCxnSpPr/>
          <p:nvPr/>
        </p:nvCxnSpPr>
        <p:spPr>
          <a:xfrm flipH="1" flipV="1">
            <a:off x="2377440" y="1572768"/>
            <a:ext cx="1554480" cy="157276"/>
          </a:xfrm>
          <a:prstGeom prst="line">
            <a:avLst/>
          </a:prstGeom>
          <a:ln w="19050">
            <a:solidFill>
              <a:srgbClr val="06B6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H="1">
            <a:off x="2377440" y="2362809"/>
            <a:ext cx="1554480" cy="490119"/>
          </a:xfrm>
          <a:prstGeom prst="line">
            <a:avLst/>
          </a:prstGeom>
          <a:ln w="19050">
            <a:solidFill>
              <a:srgbClr val="06B6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H="1">
            <a:off x="2377440" y="2995574"/>
            <a:ext cx="1554480" cy="1137514"/>
          </a:xfrm>
          <a:prstGeom prst="line">
            <a:avLst/>
          </a:prstGeom>
          <a:ln w="19050">
            <a:solidFill>
              <a:srgbClr val="06B6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H="1">
            <a:off x="2377440" y="3628339"/>
            <a:ext cx="1554480" cy="1784909"/>
          </a:xfrm>
          <a:prstGeom prst="line">
            <a:avLst/>
          </a:prstGeom>
          <a:ln w="19050">
            <a:solidFill>
              <a:srgbClr val="06B6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6492240" y="1874520"/>
            <a:ext cx="822960" cy="804672"/>
          </a:xfrm>
          <a:prstGeom prst="line">
            <a:avLst/>
          </a:prstGeom>
          <a:ln w="19050">
            <a:solidFill>
              <a:srgbClr val="06B6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8321040" y="4279392"/>
            <a:ext cx="182880" cy="292608"/>
          </a:xfrm>
          <a:prstGeom prst="line">
            <a:avLst/>
          </a:prstGeom>
          <a:ln w="19050">
            <a:solidFill>
              <a:srgbClr val="087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H="1">
            <a:off x="9692640" y="5248656"/>
            <a:ext cx="365760" cy="201168"/>
          </a:xfrm>
          <a:prstGeom prst="line">
            <a:avLst/>
          </a:prstGeom>
          <a:ln w="19050">
            <a:solidFill>
              <a:srgbClr val="087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TextBox 242"/>
          <p:cNvSpPr txBox="1"/>
          <p:nvPr/>
        </p:nvSpPr>
        <p:spPr>
          <a:xfrm>
            <a:off x="2468880" y="14173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6B6D4"/>
                </a:solidFill>
                <a:latin typeface="Consolas"/>
              </a:defRPr>
            </a:pPr>
            <a:r>
              <a:t>◂ generates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2468880" y="26974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6B6D4"/>
                </a:solidFill>
                <a:latin typeface="Consolas"/>
              </a:defRPr>
            </a:pPr>
            <a:r>
              <a:t>◂ generates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2468880" y="3977639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6B6D4"/>
                </a:solidFill>
                <a:latin typeface="Consolas"/>
              </a:defRPr>
            </a:pPr>
            <a:r>
              <a:t>◂ generates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2468880" y="52578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6B6D4"/>
                </a:solidFill>
                <a:latin typeface="Consolas"/>
              </a:defRPr>
            </a:pPr>
            <a:r>
              <a:t>◂ generates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6766560" y="13716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6B6D4"/>
                </a:solidFill>
                <a:latin typeface="Consolas"/>
              </a:defRPr>
            </a:pPr>
            <a:r>
              <a:t>tracks ▸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8229600" y="42062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6B6D4"/>
                </a:solidFill>
                <a:latin typeface="Consolas"/>
              </a:defRPr>
            </a:pPr>
            <a:r>
              <a:t>validates 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t>03 — SCHEMA DESIGN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4114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F0FE"/>
                </a:solidFill>
                <a:latin typeface="Segoe UI"/>
              </a:defRPr>
            </a:pPr>
            <a:r>
              <a:t>ML Output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FA3"/>
                </a:solidFill>
                <a:latin typeface="Segoe UI"/>
              </a:defRPr>
            </a:pPr>
            <a:r>
              <a:t>Anomaly detection scores, chatbot conversations, and prompt performance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914400"/>
            <a:ext cx="11795760" cy="5760720"/>
          </a:xfrm>
          <a:prstGeom prst="roundRect">
            <a:avLst>
              <a:gd name="adj" fmla="val 3000"/>
            </a:avLst>
          </a:prstGeom>
          <a:solidFill>
            <a:srgbClr val="080414"/>
          </a:solidFill>
          <a:ln w="12700">
            <a:solidFill>
              <a:srgbClr val="281848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8328" y="1069848"/>
            <a:ext cx="2615184" cy="1810512"/>
          </a:xfrm>
          <a:prstGeom prst="roundRect">
            <a:avLst>
              <a:gd name="adj" fmla="val 5000"/>
            </a:avLst>
          </a:prstGeom>
          <a:solidFill>
            <a:srgbClr val="090611"/>
          </a:solidFill>
          <a:ln>
            <a:noFill/>
          </a:ln>
          <a:effectLst>
            <a:glow rad="76200">
              <a:srgbClr val="8B5C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2560320" cy="1755648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2E1E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84048" y="1115568"/>
            <a:ext cx="2523744" cy="292608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7200" y="1188720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13385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8B5CF6"/>
                </a:solidFill>
                <a:latin typeface="Consolas"/>
              </a:defRPr>
            </a:pPr>
            <a:r>
              <a:t>ml_output.order_anomaly_scores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399032"/>
            <a:ext cx="2468880" cy="19050"/>
          </a:xfrm>
          <a:prstGeom prst="roundRect">
            <a:avLst/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93192" y="1426464"/>
            <a:ext cx="250545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" y="14264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435608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order_id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1435608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" y="16276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636776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if_score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1636776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NUMERIC(8,6)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" y="1828800"/>
            <a:ext cx="250545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0624" y="18288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837944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lof_score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1837944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NUMERIC(8,6)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202996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039112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ensemble_score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2039112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NUMERIC(8,6)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192" y="2231136"/>
            <a:ext cx="250545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0624" y="223113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240280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anomaly_flag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2240280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SMALLINT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" y="243230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441448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risk_tier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2441448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risk_tier_t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3192" y="2633472"/>
            <a:ext cx="250545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0624" y="263347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2642616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leakage_scenarios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2642616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scenario_t[]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8328" y="3630168"/>
            <a:ext cx="2249424" cy="1005840"/>
          </a:xfrm>
          <a:prstGeom prst="roundRect">
            <a:avLst>
              <a:gd name="adj" fmla="val 5000"/>
            </a:avLst>
          </a:prstGeom>
          <a:solidFill>
            <a:srgbClr val="090611"/>
          </a:solidFill>
          <a:ln>
            <a:noFill/>
          </a:ln>
          <a:effectLst>
            <a:glow rad="76200">
              <a:srgbClr val="8B5C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65760" y="3657600"/>
            <a:ext cx="2194560" cy="950976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2E1E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84048" y="3675888"/>
            <a:ext cx="2157984" cy="292608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3749040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4360" y="3694176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8B5CF6"/>
                </a:solidFill>
                <a:latin typeface="Consolas"/>
              </a:defRPr>
            </a:pPr>
            <a:r>
              <a:t>ml_output.order_leakage_reasons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3959352"/>
            <a:ext cx="2103120" cy="19050"/>
          </a:xfrm>
          <a:prstGeom prst="roundRect">
            <a:avLst/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393192" y="3986784"/>
            <a:ext cx="213969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0624" y="398678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995928"/>
            <a:ext cx="10533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order_id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3040" y="3995928"/>
            <a:ext cx="10314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" y="418795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197096"/>
            <a:ext cx="10533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leakage_type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4197096"/>
            <a:ext cx="10314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VARCHAR(100)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3192" y="4389120"/>
            <a:ext cx="213969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0624" y="438912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4398264"/>
            <a:ext cx="10533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confidence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63040" y="4398264"/>
            <a:ext cx="10314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NUMERIC(5,4)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8328" y="5093208"/>
            <a:ext cx="2432304" cy="1408176"/>
          </a:xfrm>
          <a:prstGeom prst="roundRect">
            <a:avLst>
              <a:gd name="adj" fmla="val 5000"/>
            </a:avLst>
          </a:prstGeom>
          <a:solidFill>
            <a:srgbClr val="090611"/>
          </a:solidFill>
          <a:ln>
            <a:noFill/>
          </a:ln>
          <a:effectLst>
            <a:glow rad="76200">
              <a:srgbClr val="8B5C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365760" y="5120640"/>
            <a:ext cx="2377440" cy="1353312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2E1E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384048" y="5138928"/>
            <a:ext cx="2340864" cy="292608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457200" y="5212080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94360" y="51572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8B5CF6"/>
                </a:solidFill>
                <a:latin typeface="Consolas"/>
              </a:defRPr>
            </a:pPr>
            <a:r>
              <a:t>ml_output.schema_metadata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11480" y="5422392"/>
            <a:ext cx="2286000" cy="19050"/>
          </a:xfrm>
          <a:prstGeom prst="roundRect">
            <a:avLst/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393192" y="5449824"/>
            <a:ext cx="232257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0624" y="544982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5458968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table_schema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54480" y="5458968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VARCHAR(20)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0624" y="565099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660136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table_name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54480" y="5660136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VARCHAR(60)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93192" y="5852160"/>
            <a:ext cx="232257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20624" y="585216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5861304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description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54480" y="5861304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0624" y="605332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6062472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join_hint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54480" y="6062472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93192" y="6254496"/>
            <a:ext cx="232257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20624" y="625449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6263640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chatbot_use_case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554480" y="6263640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813048" y="1069848"/>
            <a:ext cx="2615184" cy="1810512"/>
          </a:xfrm>
          <a:prstGeom prst="roundRect">
            <a:avLst>
              <a:gd name="adj" fmla="val 5000"/>
            </a:avLst>
          </a:prstGeom>
          <a:solidFill>
            <a:srgbClr val="090611"/>
          </a:solidFill>
          <a:ln>
            <a:noFill/>
          </a:ln>
          <a:effectLst>
            <a:glow rad="76200">
              <a:srgbClr val="8B5C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3840480" y="1097280"/>
            <a:ext cx="2560320" cy="1755648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2E1E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3858768" y="1115568"/>
            <a:ext cx="2523744" cy="292608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3931920" y="1188720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069080" y="113385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8B5CF6"/>
                </a:solidFill>
                <a:latin typeface="Consolas"/>
              </a:defRPr>
            </a:pPr>
            <a:r>
              <a:t>ml_output.chatbot_prompt_versions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886200" y="1399032"/>
            <a:ext cx="2468880" cy="19050"/>
          </a:xfrm>
          <a:prstGeom prst="roundRect">
            <a:avLst/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3867912" y="1426464"/>
            <a:ext cx="250545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895344" y="14264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23360" y="1435608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version_id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20640" y="1435608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SERIAL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95344" y="16276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23360" y="1636776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version_tag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20640" y="1636776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VARCHAR(20)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867912" y="1828800"/>
            <a:ext cx="250545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895344" y="18288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23360" y="1837944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system_prompt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120640" y="1837944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895344" y="202996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23360" y="2039112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schema_context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20640" y="2039112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867912" y="2231136"/>
            <a:ext cx="250545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895344" y="223113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23360" y="2240280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auc_score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120640" y="2240280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NUMERIC(6,4)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895344" y="243230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023360" y="2441448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avg_f1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20640" y="2441448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NUMERIC(6,4)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867912" y="2633472"/>
            <a:ext cx="250545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895344" y="263347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023360" y="2642616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is_active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120640" y="2642616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BOOLEAN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813048" y="3630168"/>
            <a:ext cx="2340864" cy="1609344"/>
          </a:xfrm>
          <a:prstGeom prst="roundRect">
            <a:avLst>
              <a:gd name="adj" fmla="val 5000"/>
            </a:avLst>
          </a:prstGeom>
          <a:solidFill>
            <a:srgbClr val="090611"/>
          </a:solidFill>
          <a:ln>
            <a:noFill/>
          </a:ln>
          <a:effectLst>
            <a:glow rad="76200">
              <a:srgbClr val="8B5C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3840480" y="3657600"/>
            <a:ext cx="2286000" cy="1554480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2E1E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3858768" y="3675888"/>
            <a:ext cx="2249424" cy="292608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3931920" y="3749040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069080" y="3694176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8B5CF6"/>
                </a:solidFill>
                <a:latin typeface="Consolas"/>
              </a:defRPr>
            </a:pPr>
            <a:r>
              <a:t>ml_output.chatbot_conversations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886200" y="3959352"/>
            <a:ext cx="2194560" cy="19050"/>
          </a:xfrm>
          <a:prstGeom prst="roundRect">
            <a:avLst/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3867912" y="3986784"/>
            <a:ext cx="223113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3895344" y="398678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023360" y="39959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id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983480" y="3995928"/>
            <a:ext cx="10744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BIGSERIAL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895344" y="418795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023360" y="419709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session_id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983480" y="4197096"/>
            <a:ext cx="10744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VARCHAR(64)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867912" y="4389120"/>
            <a:ext cx="223113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895344" y="438912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023360" y="439826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turn_index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983480" y="4398264"/>
            <a:ext cx="10744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INTEGER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895344" y="459028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023360" y="459943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role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983480" y="4599432"/>
            <a:ext cx="10744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VARCHAR(20)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867912" y="4791456"/>
            <a:ext cx="223113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3895344" y="479145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023360" y="4800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content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983480" y="4800600"/>
            <a:ext cx="10744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TEXT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895344" y="499262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023360" y="50017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tool_calls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983480" y="5001768"/>
            <a:ext cx="10744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JSONB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7470647" y="1069848"/>
            <a:ext cx="2066544" cy="1005840"/>
          </a:xfrm>
          <a:prstGeom prst="roundRect">
            <a:avLst>
              <a:gd name="adj" fmla="val 5000"/>
            </a:avLst>
          </a:prstGeom>
          <a:solidFill>
            <a:srgbClr val="090611"/>
          </a:solidFill>
          <a:ln>
            <a:noFill/>
          </a:ln>
          <a:effectLst>
            <a:glow rad="76200">
              <a:srgbClr val="8B5C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ounded Rectangle 171"/>
          <p:cNvSpPr/>
          <p:nvPr/>
        </p:nvSpPr>
        <p:spPr>
          <a:xfrm>
            <a:off x="7498079" y="1097280"/>
            <a:ext cx="2011680" cy="950976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2E1E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ounded Rectangle 172"/>
          <p:cNvSpPr/>
          <p:nvPr/>
        </p:nvSpPr>
        <p:spPr>
          <a:xfrm>
            <a:off x="7516367" y="1115568"/>
            <a:ext cx="1975104" cy="292608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7589519" y="1188720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7726679" y="113385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8B5CF6"/>
                </a:solidFill>
                <a:latin typeface="Consolas"/>
              </a:defRPr>
            </a:pPr>
            <a:r>
              <a:t>ml_output.chatbot_enums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7543799" y="1399032"/>
            <a:ext cx="1920240" cy="19050"/>
          </a:xfrm>
          <a:prstGeom prst="roundRect">
            <a:avLst/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ounded Rectangle 176"/>
          <p:cNvSpPr/>
          <p:nvPr/>
        </p:nvSpPr>
        <p:spPr>
          <a:xfrm>
            <a:off x="7525511" y="1426464"/>
            <a:ext cx="195681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552943" y="14264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680959" y="1435608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enum_name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503919" y="1435608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VARCHAR(50)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552943" y="16276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680959" y="1636776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enum_value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503919" y="1636776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VARCHAR(100)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7525511" y="1828800"/>
            <a:ext cx="1956816" cy="201168"/>
          </a:xfrm>
          <a:prstGeom prst="roundRect">
            <a:avLst>
              <a:gd name="adj" fmla="val 3000"/>
            </a:avLst>
          </a:prstGeom>
          <a:solidFill>
            <a:srgbClr val="060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7552943" y="18288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680959" y="1837944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description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8503919" y="1837944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74C1"/>
                </a:solidFill>
                <a:latin typeface="Consolas"/>
              </a:defRPr>
            </a:pPr>
            <a:r>
              <a:t>TEXT</a:t>
            </a:r>
          </a:p>
        </p:txBody>
      </p:sp>
      <p:cxnSp>
        <p:nvCxnSpPr>
          <p:cNvPr id="188" name="Connector 187"/>
          <p:cNvCxnSpPr/>
          <p:nvPr/>
        </p:nvCxnSpPr>
        <p:spPr>
          <a:xfrm flipH="1">
            <a:off x="1463040" y="2852928"/>
            <a:ext cx="182880" cy="804672"/>
          </a:xfrm>
          <a:prstGeom prst="line">
            <a:avLst/>
          </a:prstGeom>
          <a:ln w="25400">
            <a:solidFill>
              <a:srgbClr val="6040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1463040" y="4608576"/>
            <a:ext cx="91440" cy="512064"/>
          </a:xfrm>
          <a:prstGeom prst="line">
            <a:avLst/>
          </a:prstGeom>
          <a:ln w="19050">
            <a:solidFill>
              <a:srgbClr val="6040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H="1">
            <a:off x="4983480" y="2852928"/>
            <a:ext cx="137160" cy="804672"/>
          </a:xfrm>
          <a:prstGeom prst="line">
            <a:avLst/>
          </a:prstGeom>
          <a:ln w="25400">
            <a:solidFill>
              <a:srgbClr val="6040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>
            <a:cxnSpLocks/>
            <a:endCxn id="196" idx="1"/>
          </p:cNvCxnSpPr>
          <p:nvPr/>
        </p:nvCxnSpPr>
        <p:spPr>
          <a:xfrm flipV="1">
            <a:off x="6199632" y="4379976"/>
            <a:ext cx="771010" cy="64008"/>
          </a:xfrm>
          <a:prstGeom prst="line">
            <a:avLst/>
          </a:prstGeom>
          <a:ln w="19050">
            <a:solidFill>
              <a:srgbClr val="6040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H="1">
            <a:off x="6400800" y="1572768"/>
            <a:ext cx="1097279" cy="402336"/>
          </a:xfrm>
          <a:prstGeom prst="line">
            <a:avLst/>
          </a:prstGeom>
          <a:ln w="19050">
            <a:solidFill>
              <a:srgbClr val="6040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>
            <a:off x="1097280" y="32918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040A0"/>
                </a:solidFill>
                <a:latin typeface="Consolas"/>
              </a:defRPr>
            </a:pPr>
            <a:r>
              <a:t>flags ▾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572000" y="32918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040A0"/>
                </a:solidFill>
                <a:latin typeface="Consolas"/>
              </a:defRPr>
            </a:pPr>
            <a:r>
              <a:t>drives ▾</a:t>
            </a:r>
          </a:p>
        </p:txBody>
      </p:sp>
      <p:pic>
        <p:nvPicPr>
          <p:cNvPr id="196" name="Picture 195">
            <a:extLst>
              <a:ext uri="{FF2B5EF4-FFF2-40B4-BE49-F238E27FC236}">
                <a16:creationId xmlns:a16="http://schemas.microsoft.com/office/drawing/2014/main" id="{17E99EE4-E125-411F-4634-F5945DE14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642" y="3239925"/>
            <a:ext cx="3066554" cy="22801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t>03 — SCHEMA DESIGN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41148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F0FE"/>
                </a:solidFill>
                <a:latin typeface="Segoe UI"/>
              </a:defRPr>
            </a:pPr>
            <a:r>
              <a:t>Marketing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FA3"/>
                </a:solidFill>
                <a:latin typeface="Segoe UI"/>
              </a:defRPr>
            </a:pPr>
            <a:r>
              <a:t>Campaign tracking, lead qualification pipeline, and customer interaction events.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914400"/>
            <a:ext cx="11795760" cy="5760720"/>
          </a:xfrm>
          <a:prstGeom prst="roundRect">
            <a:avLst>
              <a:gd name="adj" fmla="val 3000"/>
            </a:avLst>
          </a:prstGeom>
          <a:solidFill>
            <a:srgbClr val="040C08"/>
          </a:solidFill>
          <a:ln w="12700">
            <a:solidFill>
              <a:srgbClr val="103828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13048" y="1069848"/>
            <a:ext cx="2798064" cy="1810512"/>
          </a:xfrm>
          <a:prstGeom prst="roundRect">
            <a:avLst>
              <a:gd name="adj" fmla="val 5000"/>
            </a:avLst>
          </a:prstGeom>
          <a:solidFill>
            <a:srgbClr val="020D09"/>
          </a:solidFill>
          <a:ln>
            <a:noFill/>
          </a:ln>
          <a:effectLst>
            <a:glow rad="76200">
              <a:srgbClr val="10B981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40480" y="1097280"/>
            <a:ext cx="2743200" cy="1755648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053D2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858768" y="1115568"/>
            <a:ext cx="2706624" cy="292608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931920" y="118872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69080" y="113385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0B981"/>
                </a:solidFill>
                <a:latin typeface="Consolas"/>
              </a:defRPr>
            </a:pPr>
            <a:r>
              <a:t>marketing.marketing_campaigns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1399032"/>
            <a:ext cx="2651760" cy="19050"/>
          </a:xfrm>
          <a:prstGeom prst="roundRect">
            <a:avLst/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867912" y="1426464"/>
            <a:ext cx="2688336" cy="201168"/>
          </a:xfrm>
          <a:prstGeom prst="roundRect">
            <a:avLst>
              <a:gd name="adj" fmla="val 3000"/>
            </a:avLst>
          </a:prstGeom>
          <a:solidFill>
            <a:srgbClr val="03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95344" y="14264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1435608"/>
            <a:ext cx="13167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campaign_id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43560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VARCHAR(20)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5344" y="16276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636776"/>
            <a:ext cx="13167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campaign_name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1636776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VARCHAR(200)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67912" y="1828800"/>
            <a:ext cx="2688336" cy="201168"/>
          </a:xfrm>
          <a:prstGeom prst="roundRect">
            <a:avLst>
              <a:gd name="adj" fmla="val 3000"/>
            </a:avLst>
          </a:prstGeom>
          <a:solidFill>
            <a:srgbClr val="03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95344" y="18288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1837944"/>
            <a:ext cx="13167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1837944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VARCHAR(50)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95344" y="202996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2039112"/>
            <a:ext cx="13167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campaign_type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039112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VARCHAR(50)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67912" y="2231136"/>
            <a:ext cx="2688336" cy="201168"/>
          </a:xfrm>
          <a:prstGeom prst="roundRect">
            <a:avLst>
              <a:gd name="adj" fmla="val 3000"/>
            </a:avLst>
          </a:prstGeom>
          <a:solidFill>
            <a:srgbClr val="03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95344" y="223113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2240280"/>
            <a:ext cx="13167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start_date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2240280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95344" y="243230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2441448"/>
            <a:ext cx="13167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end_date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24414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DATE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67912" y="2633472"/>
            <a:ext cx="2688336" cy="201168"/>
          </a:xfrm>
          <a:prstGeom prst="roundRect">
            <a:avLst>
              <a:gd name="adj" fmla="val 3000"/>
            </a:avLst>
          </a:prstGeom>
          <a:solidFill>
            <a:srgbClr val="03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95344" y="263347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2642616"/>
            <a:ext cx="13167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budget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2642616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NUMERIC(14,2)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8328" y="1069848"/>
            <a:ext cx="2249424" cy="1207008"/>
          </a:xfrm>
          <a:prstGeom prst="roundRect">
            <a:avLst>
              <a:gd name="adj" fmla="val 5000"/>
            </a:avLst>
          </a:prstGeom>
          <a:solidFill>
            <a:srgbClr val="020D09"/>
          </a:solidFill>
          <a:ln>
            <a:noFill/>
          </a:ln>
          <a:effectLst>
            <a:glow rad="76200">
              <a:srgbClr val="10B981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65760" y="1097280"/>
            <a:ext cx="2194560" cy="1152144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053D2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84048" y="1115568"/>
            <a:ext cx="2157984" cy="292608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118872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4360" y="1133856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0B981"/>
                </a:solidFill>
                <a:latin typeface="Consolas"/>
              </a:defRPr>
            </a:pPr>
            <a:r>
              <a:t>marketing.leads_qualified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1399032"/>
            <a:ext cx="2103120" cy="19050"/>
          </a:xfrm>
          <a:prstGeom prst="roundRect">
            <a:avLst/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393192" y="1426464"/>
            <a:ext cx="2139696" cy="201168"/>
          </a:xfrm>
          <a:prstGeom prst="roundRect">
            <a:avLst>
              <a:gd name="adj" fmla="val 3000"/>
            </a:avLst>
          </a:prstGeom>
          <a:solidFill>
            <a:srgbClr val="03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0624" y="14264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1435608"/>
            <a:ext cx="10533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mql_id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3040" y="1435608"/>
            <a:ext cx="10314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" y="16276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1636776"/>
            <a:ext cx="10533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first_contact_date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1636776"/>
            <a:ext cx="10314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DATE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3192" y="1828800"/>
            <a:ext cx="2139696" cy="201168"/>
          </a:xfrm>
          <a:prstGeom prst="roundRect">
            <a:avLst>
              <a:gd name="adj" fmla="val 3000"/>
            </a:avLst>
          </a:prstGeom>
          <a:solidFill>
            <a:srgbClr val="03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0624" y="18288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1837944"/>
            <a:ext cx="10533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landing_page_id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63040" y="1837944"/>
            <a:ext cx="10314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VARCHAR(40)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0624" y="202996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2039112"/>
            <a:ext cx="10533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origin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2039112"/>
            <a:ext cx="10314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VARCHAR(50)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38328" y="2990088"/>
            <a:ext cx="2615184" cy="1609344"/>
          </a:xfrm>
          <a:prstGeom prst="roundRect">
            <a:avLst>
              <a:gd name="adj" fmla="val 5000"/>
            </a:avLst>
          </a:prstGeom>
          <a:solidFill>
            <a:srgbClr val="020D09"/>
          </a:solidFill>
          <a:ln>
            <a:noFill/>
          </a:ln>
          <a:effectLst>
            <a:glow rad="76200">
              <a:srgbClr val="10B981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365760" y="3017520"/>
            <a:ext cx="2560320" cy="1554480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053D2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384048" y="3035808"/>
            <a:ext cx="2523744" cy="292608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457200" y="310896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94360" y="305409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0B981"/>
                </a:solidFill>
                <a:latin typeface="Consolas"/>
              </a:defRPr>
            </a:pPr>
            <a:r>
              <a:t>marketing.leads_closed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1480" y="3319272"/>
            <a:ext cx="2468880" cy="19050"/>
          </a:xfrm>
          <a:prstGeom prst="roundRect">
            <a:avLst/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393192" y="3346704"/>
            <a:ext cx="2505456" cy="201168"/>
          </a:xfrm>
          <a:prstGeom prst="roundRect">
            <a:avLst>
              <a:gd name="adj" fmla="val 3000"/>
            </a:avLst>
          </a:prstGeom>
          <a:solidFill>
            <a:srgbClr val="03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20624" y="334670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3355848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mql_id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45920" y="3355848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0624" y="354787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3557016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seller_id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45920" y="3557016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93192" y="3749040"/>
            <a:ext cx="2505456" cy="201168"/>
          </a:xfrm>
          <a:prstGeom prst="roundRect">
            <a:avLst>
              <a:gd name="adj" fmla="val 3000"/>
            </a:avLst>
          </a:prstGeom>
          <a:solidFill>
            <a:srgbClr val="03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20624" y="374904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3758184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won_date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45920" y="3758184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DATE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0624" y="395020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3959352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business_segment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645920" y="3959352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VARCHAR(100)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93192" y="4151376"/>
            <a:ext cx="2505456" cy="201168"/>
          </a:xfrm>
          <a:prstGeom prst="roundRect">
            <a:avLst>
              <a:gd name="adj" fmla="val 3000"/>
            </a:avLst>
          </a:prstGeom>
          <a:solidFill>
            <a:srgbClr val="03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20624" y="415137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4160520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lead_type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45920" y="4160520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VARCHAR(50)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0624" y="435254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4361688"/>
            <a:ext cx="12289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declared_monthly_revenue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4361688"/>
            <a:ext cx="12033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NUMERIC(14,2)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470647" y="1069848"/>
            <a:ext cx="2340864" cy="1207008"/>
          </a:xfrm>
          <a:prstGeom prst="roundRect">
            <a:avLst>
              <a:gd name="adj" fmla="val 5000"/>
            </a:avLst>
          </a:prstGeom>
          <a:solidFill>
            <a:srgbClr val="020D09"/>
          </a:solidFill>
          <a:ln>
            <a:noFill/>
          </a:ln>
          <a:effectLst>
            <a:glow rad="76200">
              <a:srgbClr val="10B981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7498079" y="1097280"/>
            <a:ext cx="2286000" cy="1152144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053D2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7516367" y="1115568"/>
            <a:ext cx="2249424" cy="292608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7589519" y="118872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726679" y="1133856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0B981"/>
                </a:solidFill>
                <a:latin typeface="Consolas"/>
              </a:defRPr>
            </a:pPr>
            <a:r>
              <a:t>marketing.campaign_attribution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543799" y="1399032"/>
            <a:ext cx="2194560" cy="19050"/>
          </a:xfrm>
          <a:prstGeom prst="roundRect">
            <a:avLst/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7525511" y="1426464"/>
            <a:ext cx="2231136" cy="201168"/>
          </a:xfrm>
          <a:prstGeom prst="roundRect">
            <a:avLst>
              <a:gd name="adj" fmla="val 3000"/>
            </a:avLst>
          </a:prstGeom>
          <a:solidFill>
            <a:srgbClr val="03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552943" y="14264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80959" y="14356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id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41079" y="1435608"/>
            <a:ext cx="10744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SERIAL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552943" y="16276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0B981"/>
                </a:solidFill>
                <a:latin typeface="Consolas"/>
              </a:defRPr>
            </a:pPr>
            <a:r>
              <a:t>◆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80959" y="163677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t>order_id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41079" y="1636776"/>
            <a:ext cx="10744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VARCHAR(32) FK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525511" y="1828800"/>
            <a:ext cx="2231136" cy="201168"/>
          </a:xfrm>
          <a:prstGeom prst="roundRect">
            <a:avLst>
              <a:gd name="adj" fmla="val 3000"/>
            </a:avLst>
          </a:prstGeom>
          <a:solidFill>
            <a:srgbClr val="03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552943" y="18288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0B981"/>
                </a:solidFill>
                <a:latin typeface="Consolas"/>
              </a:defRPr>
            </a:pPr>
            <a:r>
              <a:t>◆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80959" y="18379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t>campaign_id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41079" y="1837944"/>
            <a:ext cx="10744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VARCHAR(20) FK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552943" y="202996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80959" y="203911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attribution_type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641079" y="2039112"/>
            <a:ext cx="10744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VARCHAR(50)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470647" y="2990088"/>
            <a:ext cx="2432304" cy="1810512"/>
          </a:xfrm>
          <a:prstGeom prst="roundRect">
            <a:avLst>
              <a:gd name="adj" fmla="val 5000"/>
            </a:avLst>
          </a:prstGeom>
          <a:solidFill>
            <a:srgbClr val="020D09"/>
          </a:solidFill>
          <a:ln>
            <a:noFill/>
          </a:ln>
          <a:effectLst>
            <a:glow rad="76200">
              <a:srgbClr val="10B981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7498079" y="3017520"/>
            <a:ext cx="2377440" cy="1755648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053D2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7516367" y="3035808"/>
            <a:ext cx="2340864" cy="292608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7589519" y="310896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7726679" y="305409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0B981"/>
                </a:solidFill>
                <a:latin typeface="Consolas"/>
              </a:defRPr>
            </a:pPr>
            <a:r>
              <a:t>marketing.customer_interactions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543799" y="3319272"/>
            <a:ext cx="2286000" cy="19050"/>
          </a:xfrm>
          <a:prstGeom prst="roundRect">
            <a:avLst/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7525511" y="3346704"/>
            <a:ext cx="2322576" cy="201168"/>
          </a:xfrm>
          <a:prstGeom prst="roundRect">
            <a:avLst>
              <a:gd name="adj" fmla="val 3000"/>
            </a:avLst>
          </a:prstGeom>
          <a:solidFill>
            <a:srgbClr val="03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552943" y="334670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80959" y="3355848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interaction_id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686799" y="3355848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VARCHAR(20)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552943" y="354787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680959" y="3557016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customer_id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686799" y="3557016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525511" y="3749040"/>
            <a:ext cx="2322576" cy="201168"/>
          </a:xfrm>
          <a:prstGeom prst="roundRect">
            <a:avLst>
              <a:gd name="adj" fmla="val 3000"/>
            </a:avLst>
          </a:prstGeom>
          <a:solidFill>
            <a:srgbClr val="03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552943" y="374904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0B981"/>
                </a:solidFill>
                <a:latin typeface="Consolas"/>
              </a:defRPr>
            </a:pPr>
            <a:r>
              <a:t>◆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680959" y="3758184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t>campaign_id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86799" y="3758184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VARCHAR(20) FK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552943" y="395020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80959" y="3959352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interaction_date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86799" y="3959352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TIMESTAMP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525511" y="4151376"/>
            <a:ext cx="2322576" cy="201168"/>
          </a:xfrm>
          <a:prstGeom prst="roundRect">
            <a:avLst>
              <a:gd name="adj" fmla="val 3000"/>
            </a:avLst>
          </a:prstGeom>
          <a:solidFill>
            <a:srgbClr val="03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552943" y="415137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680959" y="4160520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channel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86799" y="4160520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VARCHAR(50)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552943" y="435254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80959" y="4361688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action_type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686799" y="4361688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VARCHAR(50)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525511" y="4553712"/>
            <a:ext cx="2322576" cy="201168"/>
          </a:xfrm>
          <a:prstGeom prst="roundRect">
            <a:avLst>
              <a:gd name="adj" fmla="val 3000"/>
            </a:avLst>
          </a:prstGeom>
          <a:solidFill>
            <a:srgbClr val="03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7552943" y="455371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680959" y="4562856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device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686799" y="4562856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VARCHAR(30)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813048" y="3630168"/>
            <a:ext cx="2432304" cy="1408176"/>
          </a:xfrm>
          <a:prstGeom prst="roundRect">
            <a:avLst>
              <a:gd name="adj" fmla="val 5000"/>
            </a:avLst>
          </a:prstGeom>
          <a:solidFill>
            <a:srgbClr val="020D09"/>
          </a:solidFill>
          <a:ln>
            <a:noFill/>
          </a:ln>
          <a:effectLst>
            <a:glow rad="76200">
              <a:srgbClr val="10B981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ounded Rectangle 136"/>
          <p:cNvSpPr/>
          <p:nvPr/>
        </p:nvSpPr>
        <p:spPr>
          <a:xfrm>
            <a:off x="3840480" y="3657600"/>
            <a:ext cx="2377440" cy="1353312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053D2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ounded Rectangle 137"/>
          <p:cNvSpPr/>
          <p:nvPr/>
        </p:nvSpPr>
        <p:spPr>
          <a:xfrm>
            <a:off x="3858768" y="3675888"/>
            <a:ext cx="2340864" cy="292608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3931920" y="374904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4069080" y="369417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0B981"/>
                </a:solidFill>
                <a:latin typeface="Consolas"/>
              </a:defRPr>
            </a:pPr>
            <a:r>
              <a:t>marketing.website_sessions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3886200" y="3959352"/>
            <a:ext cx="2286000" cy="19050"/>
          </a:xfrm>
          <a:prstGeom prst="roundRect">
            <a:avLst/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ounded Rectangle 141"/>
          <p:cNvSpPr/>
          <p:nvPr/>
        </p:nvSpPr>
        <p:spPr>
          <a:xfrm>
            <a:off x="3867912" y="3986784"/>
            <a:ext cx="2322576" cy="201168"/>
          </a:xfrm>
          <a:prstGeom prst="roundRect">
            <a:avLst>
              <a:gd name="adj" fmla="val 3000"/>
            </a:avLst>
          </a:prstGeom>
          <a:solidFill>
            <a:srgbClr val="03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3895344" y="398678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023360" y="3995928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session_id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029200" y="3995928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VARCHAR(20)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895344" y="418795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023360" y="4197096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customer_id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029200" y="4197096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867912" y="4389120"/>
            <a:ext cx="2322576" cy="201168"/>
          </a:xfrm>
          <a:prstGeom prst="roundRect">
            <a:avLst>
              <a:gd name="adj" fmla="val 3000"/>
            </a:avLst>
          </a:prstGeom>
          <a:solidFill>
            <a:srgbClr val="03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895344" y="438912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023360" y="4398264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traffic_source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029200" y="4398264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VARCHAR(50)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895344" y="459028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023360" y="4599432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bounce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029200" y="4599432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BOOLEAN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867912" y="4791456"/>
            <a:ext cx="2322576" cy="201168"/>
          </a:xfrm>
          <a:prstGeom prst="roundRect">
            <a:avLst>
              <a:gd name="adj" fmla="val 3000"/>
            </a:avLst>
          </a:prstGeom>
          <a:solidFill>
            <a:srgbClr val="03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3895344" y="479145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023360" y="4800600"/>
            <a:ext cx="11411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session_duration_min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029200" y="4800600"/>
            <a:ext cx="11173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EA286"/>
                </a:solidFill>
                <a:latin typeface="Consolas"/>
              </a:defRPr>
            </a:pPr>
            <a:r>
              <a:t>NUMERIC(6,1)</a:t>
            </a:r>
          </a:p>
        </p:txBody>
      </p:sp>
      <p:cxnSp>
        <p:nvCxnSpPr>
          <p:cNvPr id="160" name="Connector 159"/>
          <p:cNvCxnSpPr/>
          <p:nvPr/>
        </p:nvCxnSpPr>
        <p:spPr>
          <a:xfrm flipH="1" flipV="1">
            <a:off x="2560320" y="1673352"/>
            <a:ext cx="1280160" cy="301752"/>
          </a:xfrm>
          <a:prstGeom prst="line">
            <a:avLst/>
          </a:prstGeom>
          <a:ln w="25400">
            <a:solidFill>
              <a:srgbClr val="108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463040" y="2249424"/>
            <a:ext cx="182880" cy="768096"/>
          </a:xfrm>
          <a:prstGeom prst="line">
            <a:avLst/>
          </a:prstGeom>
          <a:ln w="25400">
            <a:solidFill>
              <a:srgbClr val="108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6583680" y="1673352"/>
            <a:ext cx="914399" cy="301752"/>
          </a:xfrm>
          <a:prstGeom prst="line">
            <a:avLst/>
          </a:prstGeom>
          <a:ln w="25400">
            <a:solidFill>
              <a:srgbClr val="108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6583680" y="2852928"/>
            <a:ext cx="914399" cy="1042416"/>
          </a:xfrm>
          <a:prstGeom prst="line">
            <a:avLst/>
          </a:prstGeom>
          <a:ln w="19050">
            <a:solidFill>
              <a:srgbClr val="108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H="1">
            <a:off x="5029200" y="2852928"/>
            <a:ext cx="182880" cy="804672"/>
          </a:xfrm>
          <a:prstGeom prst="line">
            <a:avLst/>
          </a:prstGeom>
          <a:ln w="19050">
            <a:solidFill>
              <a:srgbClr val="108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2560320" y="13716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108060"/>
                </a:solidFill>
                <a:latin typeface="Consolas"/>
              </a:defRPr>
            </a:pPr>
            <a:r>
              <a:t>◂ generates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858000" y="13716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108060"/>
                </a:solidFill>
                <a:latin typeface="Consolas"/>
              </a:defRPr>
            </a:pPr>
            <a:r>
              <a:t>tracks ▸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14400" y="26517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108060"/>
                </a:solidFill>
                <a:latin typeface="Consolas"/>
              </a:defRPr>
            </a:pPr>
            <a:r>
              <a:t>converts 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rPr sz="1600" dirty="0"/>
              <a:t>03 — SCHEMA DESIGN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41148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F0FE"/>
                </a:solidFill>
                <a:latin typeface="Segoe UI"/>
              </a:defRPr>
            </a:pPr>
            <a:r>
              <a:t>Ecommerce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FA3"/>
                </a:solidFill>
                <a:latin typeface="Segoe UI"/>
              </a:defRPr>
            </a:pPr>
            <a:r>
              <a:t>Complete order lifecycle from customer to product to payment to shipping, with reviews and refunds.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924232"/>
            <a:ext cx="11795760" cy="5760720"/>
          </a:xfrm>
          <a:prstGeom prst="roundRect">
            <a:avLst>
              <a:gd name="adj" fmla="val 3000"/>
            </a:avLst>
          </a:prstGeom>
          <a:solidFill>
            <a:srgbClr val="040814"/>
          </a:solidFill>
          <a:ln w="12700">
            <a:solidFill>
              <a:srgbClr val="182848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6888" y="1069848"/>
            <a:ext cx="1883664" cy="1408176"/>
          </a:xfrm>
          <a:prstGeom prst="roundRect">
            <a:avLst>
              <a:gd name="adj" fmla="val 5000"/>
            </a:avLst>
          </a:prstGeom>
          <a:solidFill>
            <a:srgbClr val="040911"/>
          </a:solidFill>
          <a:ln>
            <a:noFill/>
          </a:ln>
          <a:effectLst>
            <a:glow rad="76200">
              <a:srgbClr val="3B82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1828800" cy="1353312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2608" y="1115568"/>
            <a:ext cx="1792224" cy="292608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65760" y="118872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13385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t>ecommerce.customers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399032"/>
            <a:ext cx="1737360" cy="19050"/>
          </a:xfrm>
          <a:prstGeom prst="roundRect">
            <a:avLst/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01752" y="1426464"/>
            <a:ext cx="17739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" y="14264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35608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customer_id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1435608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" y="16276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636776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customer_unique_id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1636776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" y="1828800"/>
            <a:ext cx="17739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9184" y="18288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837944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customer_zip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1837944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VARCHAR(100)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" y="202996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039112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customer_city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039112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VARCHAR(100)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" y="2231136"/>
            <a:ext cx="17739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9184" y="223113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240280"/>
            <a:ext cx="9692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rPr dirty="0" err="1"/>
              <a:t>customer_state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1188720" y="2240280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VARCHAR(100)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32888" y="1069848"/>
            <a:ext cx="2340864" cy="1810512"/>
          </a:xfrm>
          <a:prstGeom prst="roundRect">
            <a:avLst>
              <a:gd name="adj" fmla="val 5000"/>
            </a:avLst>
          </a:prstGeom>
          <a:solidFill>
            <a:srgbClr val="040911"/>
          </a:solidFill>
          <a:ln>
            <a:noFill/>
          </a:ln>
          <a:effectLst>
            <a:glow rad="76200">
              <a:srgbClr val="3B82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560320" y="1097280"/>
            <a:ext cx="2286000" cy="1755648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578608" y="1115568"/>
            <a:ext cx="2249424" cy="292608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651760" y="118872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88920" y="1133856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t>ecommerce.orders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06040" y="1399032"/>
            <a:ext cx="2194560" cy="19050"/>
          </a:xfrm>
          <a:prstGeom prst="roundRect">
            <a:avLst/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587752" y="1426464"/>
            <a:ext cx="22311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615184" y="14264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14356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order_id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1435608"/>
            <a:ext cx="10744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15184" y="16276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0B981"/>
                </a:solidFill>
                <a:latin typeface="Consolas"/>
              </a:defRPr>
            </a:pPr>
            <a:r>
              <a:t>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163677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t>customer_id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1636776"/>
            <a:ext cx="10744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FK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87752" y="1828800"/>
            <a:ext cx="22311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15184" y="18288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18379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order_status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03320" y="1837944"/>
            <a:ext cx="10744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ENUM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15184" y="202996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203911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order_purchase_ts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03320" y="2039112"/>
            <a:ext cx="10744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TIMESTAMP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587752" y="2231136"/>
            <a:ext cx="22311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615184" y="223113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22402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total_revenue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03320" y="2240280"/>
            <a:ext cx="10744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NUMERIC(14,2)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15184" y="243230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244144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profit_margin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03320" y="2441448"/>
            <a:ext cx="10744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NUMERIC(7,4)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587752" y="2633472"/>
            <a:ext cx="22311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615184" y="263347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0" y="264261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inventory_mismatch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03320" y="2642616"/>
            <a:ext cx="10744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BOOLEAN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367528" y="1069848"/>
            <a:ext cx="1883664" cy="1609344"/>
          </a:xfrm>
          <a:prstGeom prst="roundRect">
            <a:avLst>
              <a:gd name="adj" fmla="val 5000"/>
            </a:avLst>
          </a:prstGeom>
          <a:solidFill>
            <a:srgbClr val="040911"/>
          </a:solidFill>
          <a:ln>
            <a:noFill/>
          </a:ln>
          <a:effectLst>
            <a:glow rad="76200">
              <a:srgbClr val="3B82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5394960" y="1097280"/>
            <a:ext cx="1828800" cy="1554480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5413248" y="1115568"/>
            <a:ext cx="1792224" cy="292608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5486400" y="118872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623560" y="113385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t>ecommerce.order_items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440680" y="1399032"/>
            <a:ext cx="1737360" cy="19050"/>
          </a:xfrm>
          <a:prstGeom prst="roundRect">
            <a:avLst/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5422392" y="1426464"/>
            <a:ext cx="17739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449824" y="14264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77840" y="1435608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id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60" y="1435608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SERIAL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49824" y="16276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0B981"/>
                </a:solidFill>
                <a:latin typeface="Consolas"/>
              </a:defRPr>
            </a:pPr>
            <a:r>
              <a:t>◆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77840" y="1636776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t>order_id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9360" y="1636776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FK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22392" y="1828800"/>
            <a:ext cx="17739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49824" y="18288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0B981"/>
                </a:solidFill>
                <a:latin typeface="Consolas"/>
              </a:defRPr>
            </a:pPr>
            <a:r>
              <a:t>◆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77840" y="1837944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t>product_id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9360" y="1837944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FK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49824" y="202996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0B981"/>
                </a:solidFill>
                <a:latin typeface="Consolas"/>
              </a:defRPr>
            </a:pPr>
            <a:r>
              <a:t>◆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77840" y="2039112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t>seller_id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09360" y="2039112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FK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422392" y="2231136"/>
            <a:ext cx="17739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449824" y="2231136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77840" y="2240280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price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9360" y="2240280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NUMERIC(12,2)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49824" y="243230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77840" y="2441448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freight_value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09360" y="2441448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NUMERIC(10,2)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744968" y="1069848"/>
            <a:ext cx="1883664" cy="1005840"/>
          </a:xfrm>
          <a:prstGeom prst="roundRect">
            <a:avLst>
              <a:gd name="adj" fmla="val 5000"/>
            </a:avLst>
          </a:prstGeom>
          <a:solidFill>
            <a:srgbClr val="040911"/>
          </a:solidFill>
          <a:ln>
            <a:noFill/>
          </a:ln>
          <a:effectLst>
            <a:glow rad="76200">
              <a:srgbClr val="3B82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7772400" y="1097280"/>
            <a:ext cx="1828800" cy="950976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7790688" y="1115568"/>
            <a:ext cx="1792224" cy="292608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7863840" y="118872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001000" y="113385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t>ecommerce.products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818120" y="1399032"/>
            <a:ext cx="1737360" cy="19050"/>
          </a:xfrm>
          <a:prstGeom prst="roundRect">
            <a:avLst/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7799832" y="1426464"/>
            <a:ext cx="17739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827264" y="14264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55280" y="1435608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product_id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86800" y="1435608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27264" y="16276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955280" y="1636776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product_category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86800" y="1636776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VARCHAR(100)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799832" y="1828800"/>
            <a:ext cx="17739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827264" y="18288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955280" y="1837944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unit_price_exp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686800" y="1837944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SMALLINT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030968" y="1069848"/>
            <a:ext cx="1792224" cy="1005840"/>
          </a:xfrm>
          <a:prstGeom prst="roundRect">
            <a:avLst>
              <a:gd name="adj" fmla="val 5000"/>
            </a:avLst>
          </a:prstGeom>
          <a:solidFill>
            <a:srgbClr val="040911"/>
          </a:solidFill>
          <a:ln>
            <a:noFill/>
          </a:ln>
          <a:effectLst>
            <a:glow rad="76200">
              <a:srgbClr val="3B82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10058400" y="1097280"/>
            <a:ext cx="1737360" cy="950976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10076688" y="1115568"/>
            <a:ext cx="1700784" cy="292608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0149840" y="118872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0287000" y="113385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t>ecommerce.sellers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0104120" y="1399032"/>
            <a:ext cx="1645920" cy="19050"/>
          </a:xfrm>
          <a:prstGeom prst="roundRect">
            <a:avLst/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10085832" y="1426464"/>
            <a:ext cx="168249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0113264" y="14264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241280" y="1435608"/>
            <a:ext cx="8339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seller_id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927080" y="1435608"/>
            <a:ext cx="8165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113264" y="16276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241280" y="1636776"/>
            <a:ext cx="8339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seller_city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927080" y="1636776"/>
            <a:ext cx="8165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VARCHAR(100)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0085832" y="1828800"/>
            <a:ext cx="168249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0113264" y="18288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241280" y="1837944"/>
            <a:ext cx="8339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seller_state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927080" y="1837944"/>
            <a:ext cx="8165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VARCHAR(100)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46888" y="3813048"/>
            <a:ext cx="1883664" cy="1207008"/>
          </a:xfrm>
          <a:prstGeom prst="roundRect">
            <a:avLst>
              <a:gd name="adj" fmla="val 5000"/>
            </a:avLst>
          </a:prstGeom>
          <a:solidFill>
            <a:srgbClr val="040911"/>
          </a:solidFill>
          <a:ln>
            <a:noFill/>
          </a:ln>
          <a:effectLst>
            <a:glow rad="76200">
              <a:srgbClr val="3B82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ounded Rectangle 123"/>
          <p:cNvSpPr/>
          <p:nvPr/>
        </p:nvSpPr>
        <p:spPr>
          <a:xfrm>
            <a:off x="274320" y="3840480"/>
            <a:ext cx="1828800" cy="1152144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ounded Rectangle 124"/>
          <p:cNvSpPr/>
          <p:nvPr/>
        </p:nvSpPr>
        <p:spPr>
          <a:xfrm>
            <a:off x="292608" y="3858768"/>
            <a:ext cx="1792224" cy="292608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365760" y="393192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02920" y="387705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t>ecommerce.payments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20040" y="4142232"/>
            <a:ext cx="1737360" cy="19050"/>
          </a:xfrm>
          <a:prstGeom prst="roundRect">
            <a:avLst/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ounded Rectangle 128"/>
          <p:cNvSpPr/>
          <p:nvPr/>
        </p:nvSpPr>
        <p:spPr>
          <a:xfrm>
            <a:off x="301752" y="4169664"/>
            <a:ext cx="17739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329184" y="41696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57200" y="4178808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id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88720" y="4178808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SERIAL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29184" y="43708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0B981"/>
                </a:solidFill>
                <a:latin typeface="Consolas"/>
              </a:defRPr>
            </a:pPr>
            <a:r>
              <a:t>◆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57200" y="4379976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t>order_id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88720" y="4379976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FK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01752" y="4572000"/>
            <a:ext cx="17739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329184" y="45720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57200" y="4581144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payment_type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88720" y="4581144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VARCHAR(50)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29184" y="477316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57200" y="4782312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payment_value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188720" y="4782312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NUMERIC(12,2)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532888" y="3813048"/>
            <a:ext cx="2157984" cy="1207008"/>
          </a:xfrm>
          <a:prstGeom prst="roundRect">
            <a:avLst>
              <a:gd name="adj" fmla="val 5000"/>
            </a:avLst>
          </a:prstGeom>
          <a:solidFill>
            <a:srgbClr val="040911"/>
          </a:solidFill>
          <a:ln>
            <a:noFill/>
          </a:ln>
          <a:effectLst>
            <a:glow rad="76200">
              <a:srgbClr val="3B82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ounded Rectangle 143"/>
          <p:cNvSpPr/>
          <p:nvPr/>
        </p:nvSpPr>
        <p:spPr>
          <a:xfrm>
            <a:off x="2560320" y="3840480"/>
            <a:ext cx="2103120" cy="1152144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2578608" y="3858768"/>
            <a:ext cx="2066544" cy="292608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2651760" y="393192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2788920" y="387705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t>ecommerce.shipping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606040" y="4142232"/>
            <a:ext cx="2011680" cy="19050"/>
          </a:xfrm>
          <a:prstGeom prst="roundRect">
            <a:avLst/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ounded Rectangle 148"/>
          <p:cNvSpPr/>
          <p:nvPr/>
        </p:nvSpPr>
        <p:spPr>
          <a:xfrm>
            <a:off x="2587752" y="4169664"/>
            <a:ext cx="204825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2615184" y="41696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743200" y="4178808"/>
            <a:ext cx="100949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shipping_id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611880" y="4178808"/>
            <a:ext cx="98846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615184" y="43708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0B981"/>
                </a:solidFill>
                <a:latin typeface="Consolas"/>
              </a:defRPr>
            </a:pPr>
            <a:r>
              <a:t>◆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743200" y="4379976"/>
            <a:ext cx="100949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t>order_id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611880" y="4379976"/>
            <a:ext cx="98846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FK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587752" y="4572000"/>
            <a:ext cx="204825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2615184" y="45720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743200" y="4581144"/>
            <a:ext cx="100949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carrier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611880" y="4581144"/>
            <a:ext cx="98846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VARCHAR(50)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615184" y="477316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743200" y="4782312"/>
            <a:ext cx="100949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shipping_status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611880" y="4782312"/>
            <a:ext cx="98846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VARCHAR(20)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093208" y="3813048"/>
            <a:ext cx="1883664" cy="1207008"/>
          </a:xfrm>
          <a:prstGeom prst="roundRect">
            <a:avLst>
              <a:gd name="adj" fmla="val 5000"/>
            </a:avLst>
          </a:prstGeom>
          <a:solidFill>
            <a:srgbClr val="040911"/>
          </a:solidFill>
          <a:ln>
            <a:noFill/>
          </a:ln>
          <a:effectLst>
            <a:glow rad="76200">
              <a:srgbClr val="3B82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ounded Rectangle 163"/>
          <p:cNvSpPr/>
          <p:nvPr/>
        </p:nvSpPr>
        <p:spPr>
          <a:xfrm>
            <a:off x="5120640" y="3840480"/>
            <a:ext cx="1828800" cy="1152144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ounded Rectangle 164"/>
          <p:cNvSpPr/>
          <p:nvPr/>
        </p:nvSpPr>
        <p:spPr>
          <a:xfrm>
            <a:off x="5138928" y="3858768"/>
            <a:ext cx="1792224" cy="292608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5212080" y="393192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5349240" y="387705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t>ecommerce.reviews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5166360" y="4142232"/>
            <a:ext cx="1737360" cy="19050"/>
          </a:xfrm>
          <a:prstGeom prst="roundRect">
            <a:avLst/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ounded Rectangle 168"/>
          <p:cNvSpPr/>
          <p:nvPr/>
        </p:nvSpPr>
        <p:spPr>
          <a:xfrm>
            <a:off x="5148072" y="4169664"/>
            <a:ext cx="17739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5175504" y="41696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303520" y="4178808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review_id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035040" y="4178808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175504" y="43708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0B981"/>
                </a:solidFill>
                <a:latin typeface="Consolas"/>
              </a:defRPr>
            </a:pPr>
            <a:r>
              <a:t>◆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303520" y="4379976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t>order_id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035040" y="4379976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FK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5148072" y="4572000"/>
            <a:ext cx="17739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5175504" y="45720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303520" y="4581144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rating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035040" y="4581144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NUMERIC(2,1)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175504" y="477316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303520" y="4782312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sentiment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035040" y="4782312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SMALLINT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7379208" y="3813048"/>
            <a:ext cx="1883664" cy="1207008"/>
          </a:xfrm>
          <a:prstGeom prst="roundRect">
            <a:avLst>
              <a:gd name="adj" fmla="val 5000"/>
            </a:avLst>
          </a:prstGeom>
          <a:solidFill>
            <a:srgbClr val="040911"/>
          </a:solidFill>
          <a:ln>
            <a:noFill/>
          </a:ln>
          <a:effectLst>
            <a:glow rad="76200">
              <a:srgbClr val="3B82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ounded Rectangle 183"/>
          <p:cNvSpPr/>
          <p:nvPr/>
        </p:nvSpPr>
        <p:spPr>
          <a:xfrm>
            <a:off x="7406640" y="3840480"/>
            <a:ext cx="1828800" cy="1152144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ounded Rectangle 184"/>
          <p:cNvSpPr/>
          <p:nvPr/>
        </p:nvSpPr>
        <p:spPr>
          <a:xfrm>
            <a:off x="7424928" y="3858768"/>
            <a:ext cx="1792224" cy="292608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7498080" y="393192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7635240" y="387705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t>ecommerce.refunds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7452360" y="4142232"/>
            <a:ext cx="1737360" cy="19050"/>
          </a:xfrm>
          <a:prstGeom prst="roundRect">
            <a:avLst/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ounded Rectangle 188"/>
          <p:cNvSpPr/>
          <p:nvPr/>
        </p:nvSpPr>
        <p:spPr>
          <a:xfrm>
            <a:off x="7434072" y="4169664"/>
            <a:ext cx="17739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7461504" y="41696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7589520" y="4178808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refund_id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321040" y="4178808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VARCHAR(32)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461504" y="43708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10B981"/>
                </a:solidFill>
                <a:latin typeface="Consolas"/>
              </a:defRPr>
            </a:pPr>
            <a:r>
              <a:t>◆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7589520" y="4379976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B981"/>
                </a:solidFill>
                <a:latin typeface="Consolas"/>
              </a:defRPr>
            </a:pPr>
            <a:r>
              <a:t>order_id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8321040" y="4379976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FK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7434072" y="4572000"/>
            <a:ext cx="177393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7461504" y="45720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589520" y="4581144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refund_amount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321040" y="4581144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NUMERIC(12,2)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61504" y="477316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7589520" y="4782312"/>
            <a:ext cx="877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duplicate_refund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321040" y="4782312"/>
            <a:ext cx="859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BOOLEAN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9665208" y="3813048"/>
            <a:ext cx="2066544" cy="1207008"/>
          </a:xfrm>
          <a:prstGeom prst="roundRect">
            <a:avLst>
              <a:gd name="adj" fmla="val 5000"/>
            </a:avLst>
          </a:prstGeom>
          <a:solidFill>
            <a:srgbClr val="040911"/>
          </a:solidFill>
          <a:ln>
            <a:noFill/>
          </a:ln>
          <a:effectLst>
            <a:glow rad="76200">
              <a:srgbClr val="3B82F6">
                <a:alpha val="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ounded Rectangle 203"/>
          <p:cNvSpPr/>
          <p:nvPr/>
        </p:nvSpPr>
        <p:spPr>
          <a:xfrm>
            <a:off x="9692640" y="3840480"/>
            <a:ext cx="2011680" cy="1152144"/>
          </a:xfrm>
          <a:prstGeom prst="roundRect">
            <a:avLst>
              <a:gd name="adj" fmla="val 5000"/>
            </a:avLst>
          </a:prstGeom>
          <a:solidFill>
            <a:srgbClr val="080E18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ounded Rectangle 204"/>
          <p:cNvSpPr/>
          <p:nvPr/>
        </p:nvSpPr>
        <p:spPr>
          <a:xfrm>
            <a:off x="9710928" y="3858768"/>
            <a:ext cx="1975104" cy="292608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9784080" y="393192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9921240" y="387705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B82F6"/>
                </a:solidFill>
                <a:latin typeface="Consolas"/>
              </a:defRPr>
            </a:pPr>
            <a:r>
              <a:t>ecommerce.geolocation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9738360" y="4142232"/>
            <a:ext cx="1920240" cy="19050"/>
          </a:xfrm>
          <a:prstGeom prst="roundRect">
            <a:avLst/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ounded Rectangle 208"/>
          <p:cNvSpPr/>
          <p:nvPr/>
        </p:nvSpPr>
        <p:spPr>
          <a:xfrm>
            <a:off x="9720072" y="4169664"/>
            <a:ext cx="195681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9747504" y="4169664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59E0B"/>
                </a:solidFill>
                <a:latin typeface="Consolas"/>
              </a:defRPr>
            </a:pPr>
            <a:r>
              <a:t>●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9875520" y="4178808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59E0B"/>
                </a:solidFill>
                <a:latin typeface="Consolas"/>
              </a:defRPr>
            </a:pPr>
            <a:r>
              <a:t>id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0698480" y="4178808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SERIAL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747504" y="4370832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9875520" y="4379976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zip_code_prefix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0698480" y="4379976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INTEGER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9720072" y="4572000"/>
            <a:ext cx="1956816" cy="201168"/>
          </a:xfrm>
          <a:prstGeom prst="roundRect">
            <a:avLst>
              <a:gd name="adj" fmla="val 3000"/>
            </a:avLst>
          </a:prstGeom>
          <a:solidFill>
            <a:srgbClr val="030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9747504" y="4572000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875520" y="4581144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return_rate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0698480" y="4581144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NUMERIC(5,3)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9747504" y="4773168"/>
            <a:ext cx="12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04055"/>
                </a:solidFill>
                <a:latin typeface="Consolas"/>
              </a:defRPr>
            </a:pPr>
            <a:r>
              <a:t>·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9875520" y="4782312"/>
            <a:ext cx="9656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0CCE0"/>
                </a:solidFill>
                <a:latin typeface="Consolas"/>
              </a:defRPr>
            </a:pPr>
            <a:r>
              <a:t>is_verified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0698480" y="4782312"/>
            <a:ext cx="9454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387C1"/>
                </a:solidFill>
                <a:latin typeface="Consolas"/>
              </a:defRPr>
            </a:pPr>
            <a:r>
              <a:t>BOOLEAN</a:t>
            </a:r>
          </a:p>
        </p:txBody>
      </p:sp>
      <p:cxnSp>
        <p:nvCxnSpPr>
          <p:cNvPr id="223" name="Connector 222"/>
          <p:cNvCxnSpPr/>
          <p:nvPr/>
        </p:nvCxnSpPr>
        <p:spPr>
          <a:xfrm>
            <a:off x="2103120" y="1773936"/>
            <a:ext cx="457200" cy="201168"/>
          </a:xfrm>
          <a:prstGeom prst="line">
            <a:avLst/>
          </a:prstGeom>
          <a:ln w="25400">
            <a:solidFill>
              <a:srgbClr val="306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4846320" y="1874520"/>
            <a:ext cx="548640" cy="100584"/>
          </a:xfrm>
          <a:prstGeom prst="line">
            <a:avLst/>
          </a:prstGeom>
          <a:ln w="25400">
            <a:solidFill>
              <a:srgbClr val="306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7223760" y="1572768"/>
            <a:ext cx="548640" cy="301752"/>
          </a:xfrm>
          <a:prstGeom prst="line">
            <a:avLst/>
          </a:prstGeom>
          <a:ln w="19050">
            <a:solidFill>
              <a:srgbClr val="306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9601200" y="1572768"/>
            <a:ext cx="457200" cy="0"/>
          </a:xfrm>
          <a:prstGeom prst="line">
            <a:avLst/>
          </a:prstGeom>
          <a:ln w="19050">
            <a:solidFill>
              <a:srgbClr val="306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H="1">
            <a:off x="1188720" y="2852928"/>
            <a:ext cx="1737360" cy="987552"/>
          </a:xfrm>
          <a:prstGeom prst="line">
            <a:avLst/>
          </a:prstGeom>
          <a:ln w="19050">
            <a:solidFill>
              <a:srgbClr val="306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3383280" y="2852928"/>
            <a:ext cx="228600" cy="987552"/>
          </a:xfrm>
          <a:prstGeom prst="line">
            <a:avLst/>
          </a:prstGeom>
          <a:ln w="19050">
            <a:solidFill>
              <a:srgbClr val="306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3931920" y="2852928"/>
            <a:ext cx="2103120" cy="987552"/>
          </a:xfrm>
          <a:prstGeom prst="line">
            <a:avLst/>
          </a:prstGeom>
          <a:ln w="19050">
            <a:solidFill>
              <a:srgbClr val="306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4389120" y="2852928"/>
            <a:ext cx="3931920" cy="987552"/>
          </a:xfrm>
          <a:prstGeom prst="line">
            <a:avLst/>
          </a:prstGeom>
          <a:ln w="19050">
            <a:solidFill>
              <a:srgbClr val="306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TextBox 230"/>
          <p:cNvSpPr txBox="1"/>
          <p:nvPr/>
        </p:nvSpPr>
        <p:spPr>
          <a:xfrm>
            <a:off x="1737360" y="155448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060C0"/>
                </a:solidFill>
                <a:latin typeface="Consolas"/>
              </a:defRPr>
            </a:pPr>
            <a:r>
              <a:t>places ▸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4798142" y="161010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060C0"/>
                </a:solidFill>
                <a:latin typeface="Consolas"/>
              </a:defRPr>
            </a:pPr>
            <a:r>
              <a:t>contains ▸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7191756" y="1872947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060C0"/>
                </a:solidFill>
                <a:latin typeface="Consolas"/>
              </a:defRPr>
            </a:pPr>
            <a:r>
              <a:rPr dirty="0"/>
              <a:t>◂ sold in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914400" y="34747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060C0"/>
                </a:solidFill>
                <a:latin typeface="Consolas"/>
              </a:defRPr>
            </a:pPr>
            <a:r>
              <a:t>pays ▾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3017520" y="34747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060C0"/>
                </a:solidFill>
                <a:latin typeface="Consolas"/>
              </a:defRPr>
            </a:pPr>
            <a:r>
              <a:t>ships ▾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98142" y="348386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060C0"/>
                </a:solidFill>
                <a:latin typeface="Consolas"/>
              </a:defRPr>
            </a:pPr>
            <a:r>
              <a:t>reviews ▾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287768" y="339242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060C0"/>
                </a:solidFill>
                <a:latin typeface="Consolas"/>
              </a:defRPr>
            </a:pPr>
            <a:r>
              <a:rPr dirty="0"/>
              <a:t>refunds 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rPr sz="1600" dirty="0"/>
              <a:t>04 — VECTOR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8F0FE"/>
                </a:solidFill>
                <a:latin typeface="Segoe UI"/>
              </a:defRPr>
            </a:pPr>
            <a:r>
              <a:t>Semantic Retrieval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FA3"/>
                </a:solidFill>
                <a:latin typeface="Segoe UI"/>
              </a:defRPr>
            </a:pPr>
            <a:r>
              <a:t>Every user question is embedded on-the-fly. Cosine similarity ranks the most relevant schema docs, leakage patterns, and customer reviews before the LLM generates a response.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1588" y="2313206"/>
            <a:ext cx="11612880" cy="2944594"/>
          </a:xfrm>
          <a:prstGeom prst="roundRect">
            <a:avLst>
              <a:gd name="adj" fmla="val 4000"/>
            </a:avLst>
          </a:prstGeom>
          <a:solidFill>
            <a:srgbClr val="060A12"/>
          </a:solidFill>
          <a:ln w="12700">
            <a:solidFill>
              <a:srgbClr val="1A2435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86981" y="2487281"/>
            <a:ext cx="3931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B7FA3"/>
                </a:solidFill>
                <a:latin typeface="Consolas"/>
              </a:defRPr>
            </a:pPr>
            <a:r>
              <a:rPr sz="1600" dirty="0"/>
              <a:t>VECTOR SEARCH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55464" y="3054096"/>
            <a:ext cx="1527048" cy="1755648"/>
          </a:xfrm>
          <a:prstGeom prst="roundRect">
            <a:avLst>
              <a:gd name="adj" fmla="val 10000"/>
            </a:avLst>
          </a:prstGeom>
          <a:solidFill>
            <a:srgbClr val="07101E"/>
          </a:solidFill>
          <a:ln w="12700">
            <a:solidFill>
              <a:srgbClr val="132B52"/>
            </a:solidFill>
          </a:ln>
          <a:effectLst>
            <a:glow rad="203200">
              <a:srgbClr val="3B82F6">
                <a:alpha val="1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ounded Rectangle 7"/>
          <p:cNvSpPr/>
          <p:nvPr/>
        </p:nvSpPr>
        <p:spPr>
          <a:xfrm>
            <a:off x="1510328" y="3108960"/>
            <a:ext cx="1417320" cy="1645920"/>
          </a:xfrm>
          <a:prstGeom prst="roundRect">
            <a:avLst>
              <a:gd name="adj" fmla="val 10000"/>
            </a:avLst>
          </a:prstGeom>
          <a:solidFill>
            <a:srgbClr val="0A121D"/>
          </a:solidFill>
          <a:ln w="1905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1601768" y="3163824"/>
            <a:ext cx="1234440" cy="38100"/>
          </a:xfrm>
          <a:prstGeom prst="rect">
            <a:avLst/>
          </a:prstGeom>
          <a:gradFill rotWithShape="1">
            <a:gsLst>
              <a:gs pos="0">
                <a:srgbClr val="77BEFF"/>
              </a:gs>
              <a:gs pos="100000">
                <a:srgbClr val="3B82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1510328" y="3246120"/>
            <a:ext cx="1417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E8F0FE"/>
                </a:solidFill>
                <a:latin typeface="Segoe UI"/>
              </a:defRPr>
            </a:pPr>
            <a:r>
              <a:rPr sz="32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6048" y="3657600"/>
            <a:ext cx="1325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8F0FE"/>
                </a:solidFill>
                <a:latin typeface="Segoe UI"/>
              </a:defRPr>
            </a:pPr>
            <a:r>
              <a:rPr sz="1400"/>
              <a:t>User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6048" y="3913632"/>
            <a:ext cx="1325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FA3"/>
                </a:solidFill>
                <a:latin typeface="Segoe UI"/>
              </a:defRPr>
            </a:pPr>
            <a:r>
              <a:rPr sz="1000"/>
              <a:t>Natural language</a:t>
            </a:r>
            <a:br>
              <a:rPr sz="1000"/>
            </a:br>
            <a:r>
              <a:rPr sz="1000"/>
              <a:t>question enters</a:t>
            </a:r>
            <a:br>
              <a:rPr sz="1000"/>
            </a:br>
            <a:r>
              <a:rPr sz="1000"/>
              <a:t>via chatbot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45936" y="3931920"/>
            <a:ext cx="420624" cy="0"/>
          </a:xfrm>
          <a:prstGeom prst="line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29984" y="3054096"/>
            <a:ext cx="1527048" cy="1755648"/>
          </a:xfrm>
          <a:prstGeom prst="roundRect">
            <a:avLst>
              <a:gd name="adj" fmla="val 10000"/>
            </a:avLst>
          </a:prstGeom>
          <a:solidFill>
            <a:srgbClr val="00161A"/>
          </a:solidFill>
          <a:ln w="12700">
            <a:solidFill>
              <a:srgbClr val="023C46"/>
            </a:solidFill>
          </a:ln>
          <a:effectLst>
            <a:glow rad="203200">
              <a:srgbClr val="06B6D4">
                <a:alpha val="1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ounded Rectangle 14"/>
          <p:cNvSpPr/>
          <p:nvPr/>
        </p:nvSpPr>
        <p:spPr>
          <a:xfrm>
            <a:off x="3384848" y="3108960"/>
            <a:ext cx="1417320" cy="1645920"/>
          </a:xfrm>
          <a:prstGeom prst="roundRect">
            <a:avLst>
              <a:gd name="adj" fmla="val 10000"/>
            </a:avLst>
          </a:prstGeom>
          <a:solidFill>
            <a:srgbClr val="05171A"/>
          </a:solidFill>
          <a:ln w="1905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ectangle 15"/>
          <p:cNvSpPr/>
          <p:nvPr/>
        </p:nvSpPr>
        <p:spPr>
          <a:xfrm>
            <a:off x="3476288" y="3163824"/>
            <a:ext cx="1234440" cy="38100"/>
          </a:xfrm>
          <a:prstGeom prst="rect">
            <a:avLst/>
          </a:prstGeom>
          <a:gradFill rotWithShape="1">
            <a:gsLst>
              <a:gs pos="0">
                <a:srgbClr val="42F2FF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3384848" y="3246120"/>
            <a:ext cx="1417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E8F0FE"/>
                </a:solidFill>
                <a:latin typeface="Segoe UI"/>
              </a:defRPr>
            </a:pPr>
            <a:r>
              <a:rPr sz="3200"/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0568" y="3657600"/>
            <a:ext cx="1325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8F0FE"/>
                </a:solidFill>
                <a:latin typeface="Segoe UI"/>
              </a:defRPr>
            </a:pPr>
            <a:r>
              <a:rPr sz="1400"/>
              <a:t>Embed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0568" y="3913632"/>
            <a:ext cx="1325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FA3"/>
                </a:solidFill>
                <a:latin typeface="Segoe UI"/>
              </a:defRPr>
            </a:pPr>
            <a:r>
              <a:rPr sz="1000"/>
              <a:t>Jina v5 converts</a:t>
            </a:r>
            <a:br>
              <a:rPr sz="1000"/>
            </a:br>
            <a:r>
              <a:rPr sz="1000"/>
              <a:t>text to 1024-dim</a:t>
            </a:r>
            <a:br>
              <a:rPr sz="1000"/>
            </a:br>
            <a:r>
              <a:rPr sz="1000"/>
              <a:t>dense vector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20456" y="3931920"/>
            <a:ext cx="420624" cy="0"/>
          </a:xfrm>
          <a:prstGeom prst="line">
            <a:avLst/>
          </a:prstGeom>
          <a:ln w="31750">
            <a:solidFill>
              <a:srgbClr val="06B6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204504" y="3054096"/>
            <a:ext cx="1527048" cy="1755648"/>
          </a:xfrm>
          <a:prstGeom prst="roundRect">
            <a:avLst>
              <a:gd name="adj" fmla="val 10000"/>
            </a:avLst>
          </a:prstGeom>
          <a:solidFill>
            <a:srgbClr val="110B1E"/>
          </a:solidFill>
          <a:ln w="12700">
            <a:solidFill>
              <a:srgbClr val="2E1E52"/>
            </a:solidFill>
          </a:ln>
          <a:effectLst>
            <a:glow rad="203200">
              <a:srgbClr val="8B5CF6">
                <a:alpha val="1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ounded Rectangle 21"/>
          <p:cNvSpPr/>
          <p:nvPr/>
        </p:nvSpPr>
        <p:spPr>
          <a:xfrm>
            <a:off x="5259368" y="3108960"/>
            <a:ext cx="1417320" cy="1645920"/>
          </a:xfrm>
          <a:prstGeom prst="roundRect">
            <a:avLst>
              <a:gd name="adj" fmla="val 10000"/>
            </a:avLst>
          </a:prstGeom>
          <a:solidFill>
            <a:srgbClr val="120E1D"/>
          </a:solidFill>
          <a:ln w="19050">
            <a:solidFill>
              <a:srgbClr val="2E1E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ectangle 22"/>
          <p:cNvSpPr/>
          <p:nvPr/>
        </p:nvSpPr>
        <p:spPr>
          <a:xfrm>
            <a:off x="5350808" y="3163824"/>
            <a:ext cx="1234440" cy="38100"/>
          </a:xfrm>
          <a:prstGeom prst="rect">
            <a:avLst/>
          </a:prstGeom>
          <a:gradFill rotWithShape="1">
            <a:gsLst>
              <a:gs pos="0">
                <a:srgbClr val="C798FF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5259368" y="3246120"/>
            <a:ext cx="1417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E8F0FE"/>
                </a:solidFill>
                <a:latin typeface="Segoe UI"/>
              </a:defRPr>
            </a:pPr>
            <a:r>
              <a:rPr sz="320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5088" y="3657600"/>
            <a:ext cx="1325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8F0FE"/>
                </a:solidFill>
                <a:latin typeface="Segoe UI"/>
              </a:defRPr>
            </a:pPr>
            <a:r>
              <a:rPr sz="1400"/>
              <a:t>ANN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5088" y="3913632"/>
            <a:ext cx="1325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FA3"/>
                </a:solidFill>
                <a:latin typeface="Segoe UI"/>
              </a:defRPr>
            </a:pPr>
            <a:r>
              <a:rPr sz="1000"/>
              <a:t>IVFFlat cosine</a:t>
            </a:r>
            <a:br>
              <a:rPr sz="1000"/>
            </a:br>
            <a:r>
              <a:rPr sz="1000"/>
              <a:t>search across</a:t>
            </a:r>
            <a:br>
              <a:rPr sz="1000"/>
            </a:br>
            <a:r>
              <a:rPr sz="1000"/>
              <a:t>embedding tables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694976" y="3931920"/>
            <a:ext cx="420624" cy="0"/>
          </a:xfrm>
          <a:prstGeom prst="line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079024" y="3054096"/>
            <a:ext cx="1527048" cy="1755648"/>
          </a:xfrm>
          <a:prstGeom prst="roundRect">
            <a:avLst>
              <a:gd name="adj" fmla="val 10000"/>
            </a:avLst>
          </a:prstGeom>
          <a:solidFill>
            <a:srgbClr val="1E1301"/>
          </a:solidFill>
          <a:ln w="12700">
            <a:solidFill>
              <a:srgbClr val="513403"/>
            </a:solidFill>
          </a:ln>
          <a:effectLst>
            <a:glow rad="203200">
              <a:srgbClr val="F59E0B">
                <a:alpha val="1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ounded Rectangle 28"/>
          <p:cNvSpPr/>
          <p:nvPr/>
        </p:nvSpPr>
        <p:spPr>
          <a:xfrm>
            <a:off x="7133888" y="3108960"/>
            <a:ext cx="1417320" cy="1645920"/>
          </a:xfrm>
          <a:prstGeom prst="roundRect">
            <a:avLst>
              <a:gd name="adj" fmla="val 10000"/>
            </a:avLst>
          </a:prstGeom>
          <a:solidFill>
            <a:srgbClr val="1D1406"/>
          </a:solidFill>
          <a:ln w="19050">
            <a:solidFill>
              <a:srgbClr val="513403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Rectangle 29"/>
          <p:cNvSpPr/>
          <p:nvPr/>
        </p:nvSpPr>
        <p:spPr>
          <a:xfrm>
            <a:off x="7225328" y="3163824"/>
            <a:ext cx="1234440" cy="38100"/>
          </a:xfrm>
          <a:prstGeom prst="rect">
            <a:avLst/>
          </a:prstGeom>
          <a:gradFill rotWithShape="1">
            <a:gsLst>
              <a:gs pos="0">
                <a:srgbClr val="FFDA47"/>
              </a:gs>
              <a:gs pos="100000">
                <a:srgbClr val="F59E0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7133888" y="3246120"/>
            <a:ext cx="1417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E8F0FE"/>
                </a:solidFill>
                <a:latin typeface="Segoe UI"/>
              </a:defRPr>
            </a:pPr>
            <a:r>
              <a:rPr sz="3200"/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9608" y="3657600"/>
            <a:ext cx="1325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8F0FE"/>
                </a:solidFill>
                <a:latin typeface="Segoe UI"/>
              </a:defRPr>
            </a:pPr>
            <a:r>
              <a:rPr sz="1400"/>
              <a:t>Context Inject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9608" y="4132082"/>
            <a:ext cx="1325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FA3"/>
                </a:solidFill>
                <a:latin typeface="Segoe UI"/>
              </a:defRPr>
            </a:pPr>
            <a:r>
              <a:rPr sz="1000"/>
              <a:t>Top-k chunks</a:t>
            </a:r>
            <a:br>
              <a:rPr sz="1000"/>
            </a:br>
            <a:r>
              <a:rPr sz="1000"/>
              <a:t>into system prompt</a:t>
            </a:r>
            <a:br>
              <a:rPr sz="1000"/>
            </a:br>
            <a:r>
              <a:rPr sz="1000"/>
              <a:t>+ SQL results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9496" y="3931920"/>
            <a:ext cx="420624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953544" y="3054096"/>
            <a:ext cx="1527048" cy="1755648"/>
          </a:xfrm>
          <a:prstGeom prst="roundRect">
            <a:avLst>
              <a:gd name="adj" fmla="val 10000"/>
            </a:avLst>
          </a:prstGeom>
          <a:solidFill>
            <a:srgbClr val="021710"/>
          </a:solidFill>
          <a:ln w="12700">
            <a:solidFill>
              <a:srgbClr val="053D2B"/>
            </a:solidFill>
          </a:ln>
          <a:effectLst>
            <a:glow rad="203200">
              <a:srgbClr val="10B981">
                <a:alpha val="1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Rounded Rectangle 35"/>
          <p:cNvSpPr/>
          <p:nvPr/>
        </p:nvSpPr>
        <p:spPr>
          <a:xfrm>
            <a:off x="9008408" y="3108960"/>
            <a:ext cx="1417320" cy="1645920"/>
          </a:xfrm>
          <a:prstGeom prst="roundRect">
            <a:avLst>
              <a:gd name="adj" fmla="val 10000"/>
            </a:avLst>
          </a:prstGeom>
          <a:solidFill>
            <a:srgbClr val="061711"/>
          </a:solidFill>
          <a:ln w="19050">
            <a:solidFill>
              <a:srgbClr val="053D2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Rectangle 36"/>
          <p:cNvSpPr/>
          <p:nvPr/>
        </p:nvSpPr>
        <p:spPr>
          <a:xfrm>
            <a:off x="9099848" y="3163824"/>
            <a:ext cx="1234440" cy="38100"/>
          </a:xfrm>
          <a:prstGeom prst="rect">
            <a:avLst/>
          </a:prstGeom>
          <a:gradFill rotWithShape="1">
            <a:gsLst>
              <a:gs pos="0">
                <a:srgbClr val="4CF5BD"/>
              </a:gs>
              <a:gs pos="100000">
                <a:srgbClr val="10B98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9008408" y="3246120"/>
            <a:ext cx="1417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E8F0FE"/>
                </a:solidFill>
                <a:latin typeface="Segoe UI"/>
              </a:defRPr>
            </a:pPr>
            <a:r>
              <a:rPr sz="3200"/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4128" y="3657600"/>
            <a:ext cx="1325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8F0FE"/>
                </a:solidFill>
                <a:latin typeface="Segoe UI"/>
              </a:defRPr>
            </a:pPr>
            <a:r>
              <a:rPr sz="1400"/>
              <a:t>LLM Response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9848" y="4180820"/>
            <a:ext cx="1325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FA3"/>
                </a:solidFill>
                <a:latin typeface="Segoe UI"/>
              </a:defRPr>
            </a:pPr>
            <a:r>
              <a:rPr sz="1000" dirty="0"/>
              <a:t>Grounded answer</a:t>
            </a:r>
            <a:br>
              <a:rPr sz="1000" dirty="0"/>
            </a:br>
            <a:r>
              <a:rPr sz="1000" dirty="0"/>
              <a:t>generated, logged</a:t>
            </a:r>
            <a:br>
              <a:rPr sz="1000" dirty="0"/>
            </a:br>
            <a:r>
              <a:rPr sz="1000" dirty="0"/>
              <a:t>to </a:t>
            </a:r>
            <a:r>
              <a:rPr sz="1000" dirty="0" err="1"/>
              <a:t>query_log</a:t>
            </a:r>
            <a:endParaRPr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rPr sz="1600" dirty="0"/>
              <a:t>04 — VECTOR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8F0FE"/>
                </a:solidFill>
                <a:latin typeface="Segoe UI"/>
              </a:defRPr>
            </a:pPr>
            <a:r>
              <a:t>Cosine Similarity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B7FA3"/>
                </a:solidFill>
                <a:latin typeface="Consolas"/>
              </a:defRPr>
            </a:pPr>
            <a:r>
              <a:rPr sz="1400" dirty="0"/>
              <a:t>EXAMPLE 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029200" cy="457200"/>
          </a:xfrm>
          <a:prstGeom prst="roundRect">
            <a:avLst>
              <a:gd name="adj" fmla="val 6000"/>
            </a:avLst>
          </a:prstGeom>
          <a:solidFill>
            <a:srgbClr val="04202C"/>
          </a:solidFill>
          <a:ln w="12700">
            <a:solidFill>
              <a:srgbClr val="104858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663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6B6D4"/>
                </a:solidFill>
                <a:latin typeface="Consolas"/>
              </a:defRPr>
            </a:pPr>
            <a:r>
              <a:rPr sz="1200" dirty="0"/>
              <a:t>"Which sellers have the highest leakage rate this quarter?"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7608"/>
            <a:ext cx="5303520" cy="3611880"/>
          </a:xfrm>
          <a:prstGeom prst="roundRect">
            <a:avLst>
              <a:gd name="adj" fmla="val 4000"/>
            </a:avLst>
          </a:prstGeom>
          <a:solidFill>
            <a:srgbClr val="0D1520"/>
          </a:solidFill>
          <a:ln w="12700">
            <a:solidFill>
              <a:srgbClr val="1A2435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80160" y="237744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235000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FA3"/>
                </a:solidFill>
                <a:latin typeface="Consolas"/>
              </a:defRPr>
            </a:pPr>
            <a:r>
              <a:t>SQL — pgvector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4572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Consolas"/>
              </a:defRPr>
            </a:pPr>
            <a:r>
              <a:rPr sz="1400" dirty="0"/>
              <a:t>SELECT </a:t>
            </a:r>
            <a:r>
              <a:rPr sz="1400" dirty="0" err="1"/>
              <a:t>d.doc_id</a:t>
            </a:r>
            <a:r>
              <a:rPr sz="1400" dirty="0"/>
              <a:t>, </a:t>
            </a:r>
            <a:r>
              <a:rPr sz="1400" dirty="0" err="1"/>
              <a:t>d.title</a:t>
            </a:r>
            <a:r>
              <a:rPr sz="1400" dirty="0"/>
              <a:t>, </a:t>
            </a:r>
            <a:r>
              <a:rPr sz="1400" dirty="0" err="1"/>
              <a:t>d.content</a:t>
            </a:r>
            <a:r>
              <a:rPr sz="1400" dirty="0"/>
              <a:t>,</a:t>
            </a:r>
            <a:br>
              <a:rPr sz="1400" dirty="0"/>
            </a:br>
            <a:r>
              <a:rPr sz="1400" dirty="0"/>
              <a:t>    </a:t>
            </a:r>
            <a:r>
              <a:rPr sz="1400" dirty="0" err="1"/>
              <a:t>e.embedding</a:t>
            </a:r>
            <a:r>
              <a:rPr sz="1400" dirty="0"/>
              <a:t> &lt;=&gt; $1 AS distance</a:t>
            </a:r>
            <a:br>
              <a:rPr sz="1400" dirty="0"/>
            </a:br>
            <a:r>
              <a:rPr sz="1400" dirty="0"/>
              <a:t>FROM </a:t>
            </a:r>
            <a:r>
              <a:rPr sz="1400" dirty="0" err="1"/>
              <a:t>rag.schema_embeddings</a:t>
            </a:r>
            <a:r>
              <a:rPr sz="1400" dirty="0"/>
              <a:t> e</a:t>
            </a:r>
            <a:br>
              <a:rPr sz="1400" dirty="0"/>
            </a:br>
            <a:r>
              <a:rPr sz="1400" dirty="0"/>
              <a:t>JOIN </a:t>
            </a:r>
            <a:r>
              <a:rPr sz="1400" dirty="0" err="1"/>
              <a:t>rag.documents</a:t>
            </a:r>
            <a:r>
              <a:rPr sz="1400" dirty="0"/>
              <a:t> d ON </a:t>
            </a:r>
            <a:r>
              <a:rPr sz="1400" dirty="0" err="1"/>
              <a:t>e.doc_id</a:t>
            </a:r>
            <a:r>
              <a:rPr sz="1400" dirty="0"/>
              <a:t> = </a:t>
            </a:r>
            <a:r>
              <a:rPr sz="1400" dirty="0" err="1"/>
              <a:t>d.doc_id</a:t>
            </a:r>
            <a:br>
              <a:rPr sz="1400" dirty="0"/>
            </a:br>
            <a:r>
              <a:rPr sz="1400" dirty="0"/>
              <a:t>ORDER BY distance ASC</a:t>
            </a:r>
            <a:br>
              <a:rPr sz="1400" dirty="0"/>
            </a:br>
            <a:r>
              <a:rPr sz="1400" dirty="0"/>
              <a:t>LIMIT 5;</a:t>
            </a:r>
            <a:br>
              <a:rPr sz="1400" dirty="0"/>
            </a:br>
            <a:br>
              <a:rPr sz="1400" dirty="0"/>
            </a:br>
            <a:r>
              <a:rPr sz="1400" dirty="0"/>
              <a:t>-- Then join with </a:t>
            </a:r>
            <a:r>
              <a:rPr sz="1400" dirty="0" err="1"/>
              <a:t>mv_seller_risk</a:t>
            </a:r>
            <a:r>
              <a:rPr sz="1400" dirty="0"/>
              <a:t>:</a:t>
            </a:r>
            <a:br>
              <a:rPr sz="1400" dirty="0"/>
            </a:br>
            <a:r>
              <a:rPr sz="1400" dirty="0"/>
              <a:t>SELECT </a:t>
            </a:r>
            <a:r>
              <a:rPr sz="1400" dirty="0" err="1"/>
              <a:t>seller_name</a:t>
            </a:r>
            <a:r>
              <a:rPr sz="1400" dirty="0"/>
              <a:t>, </a:t>
            </a:r>
            <a:r>
              <a:rPr sz="1400" dirty="0" err="1"/>
              <a:t>leakage_rate_pct</a:t>
            </a:r>
            <a:br>
              <a:rPr sz="1400" dirty="0"/>
            </a:br>
            <a:r>
              <a:rPr sz="1400" dirty="0"/>
              <a:t>FROM </a:t>
            </a:r>
            <a:r>
              <a:rPr sz="1400" dirty="0" err="1"/>
              <a:t>ml_output.mv_seller_risk</a:t>
            </a:r>
            <a:br>
              <a:rPr sz="1400" dirty="0"/>
            </a:br>
            <a:r>
              <a:rPr sz="1400" dirty="0"/>
              <a:t>ORDER BY </a:t>
            </a:r>
            <a:r>
              <a:rPr sz="1400" dirty="0" err="1"/>
              <a:t>leakage_rate_pct</a:t>
            </a:r>
            <a:r>
              <a:rPr sz="1400" dirty="0"/>
              <a:t> DESC LIMIT 10;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28016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B7FA3"/>
                </a:solidFill>
                <a:latin typeface="Consolas"/>
              </a:defRPr>
            </a:pPr>
            <a:r>
              <a:rPr sz="1400" dirty="0"/>
              <a:t>RETRIEVED CHUNKS (COSINE SIMILARITY)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5303520" cy="548640"/>
          </a:xfrm>
          <a:prstGeom prst="roundRect">
            <a:avLst>
              <a:gd name="adj" fmla="val 4000"/>
            </a:avLst>
          </a:prstGeom>
          <a:solidFill>
            <a:srgbClr val="020B08"/>
          </a:solidFill>
          <a:ln w="12700">
            <a:solidFill>
              <a:srgbClr val="053D2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731520" cy="347472"/>
          </a:xfrm>
          <a:prstGeom prst="roundRect">
            <a:avLst>
              <a:gd name="adj" fmla="val 6000"/>
            </a:avLst>
          </a:prstGeom>
          <a:solidFill>
            <a:srgbClr val="021E15"/>
          </a:solidFill>
          <a:ln w="12700">
            <a:solidFill>
              <a:srgbClr val="085C40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6355080" y="1764792"/>
            <a:ext cx="731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rPr sz="1400"/>
              <a:t>0.961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783080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F0FE"/>
                </a:solidFill>
                <a:latin typeface="Segoe UI"/>
              </a:defRPr>
            </a:pPr>
            <a:r>
              <a:rPr sz="1100"/>
              <a:t>mv_seller_risk — leakage_rate_pct column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304288"/>
            <a:ext cx="5303520" cy="548640"/>
          </a:xfrm>
          <a:prstGeom prst="roundRect">
            <a:avLst>
              <a:gd name="adj" fmla="val 4000"/>
            </a:avLst>
          </a:prstGeom>
          <a:solidFill>
            <a:srgbClr val="020B08"/>
          </a:solidFill>
          <a:ln w="12700">
            <a:solidFill>
              <a:srgbClr val="053D2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Rounded Rectangle 18"/>
          <p:cNvSpPr/>
          <p:nvPr/>
        </p:nvSpPr>
        <p:spPr>
          <a:xfrm>
            <a:off x="6355080" y="2395728"/>
            <a:ext cx="731520" cy="347472"/>
          </a:xfrm>
          <a:prstGeom prst="roundRect">
            <a:avLst>
              <a:gd name="adj" fmla="val 6000"/>
            </a:avLst>
          </a:prstGeom>
          <a:solidFill>
            <a:srgbClr val="021E15"/>
          </a:solidFill>
          <a:ln w="12700">
            <a:solidFill>
              <a:srgbClr val="085C40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6355080" y="2423160"/>
            <a:ext cx="731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rPr sz="1400"/>
              <a:t>0.944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441448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F0FE"/>
                </a:solidFill>
                <a:latin typeface="Segoe UI"/>
              </a:defRPr>
            </a:pPr>
            <a:r>
              <a:rPr sz="1100"/>
              <a:t>seller_paid_twice leakage scenario rule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962656"/>
            <a:ext cx="5303520" cy="548640"/>
          </a:xfrm>
          <a:prstGeom prst="roundRect">
            <a:avLst>
              <a:gd name="adj" fmla="val 4000"/>
            </a:avLst>
          </a:prstGeom>
          <a:solidFill>
            <a:srgbClr val="020B08"/>
          </a:solidFill>
          <a:ln w="12700">
            <a:solidFill>
              <a:srgbClr val="053D2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ounded Rectangle 22"/>
          <p:cNvSpPr/>
          <p:nvPr/>
        </p:nvSpPr>
        <p:spPr>
          <a:xfrm>
            <a:off x="6355080" y="3054096"/>
            <a:ext cx="731520" cy="347472"/>
          </a:xfrm>
          <a:prstGeom prst="roundRect">
            <a:avLst>
              <a:gd name="adj" fmla="val 6000"/>
            </a:avLst>
          </a:prstGeom>
          <a:solidFill>
            <a:srgbClr val="021E15"/>
          </a:solidFill>
          <a:ln w="12700">
            <a:solidFill>
              <a:srgbClr val="085C40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6355080" y="3081528"/>
            <a:ext cx="731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rPr sz="1400"/>
              <a:t>0.921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099816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F0FE"/>
                </a:solidFill>
                <a:latin typeface="Segoe UI"/>
              </a:defRPr>
            </a:pPr>
            <a:r>
              <a:rPr sz="1100"/>
              <a:t>ORDER BY leakage_rate_pct DESC sample query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21024"/>
            <a:ext cx="5303520" cy="548640"/>
          </a:xfrm>
          <a:prstGeom prst="roundRect">
            <a:avLst>
              <a:gd name="adj" fmla="val 4000"/>
            </a:avLst>
          </a:prstGeom>
          <a:solidFill>
            <a:srgbClr val="0E0902"/>
          </a:solidFill>
          <a:ln w="12700">
            <a:solidFill>
              <a:srgbClr val="513403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Rounded Rectangle 26"/>
          <p:cNvSpPr/>
          <p:nvPr/>
        </p:nvSpPr>
        <p:spPr>
          <a:xfrm>
            <a:off x="6355080" y="3712464"/>
            <a:ext cx="731520" cy="347472"/>
          </a:xfrm>
          <a:prstGeom prst="roundRect">
            <a:avLst>
              <a:gd name="adj" fmla="val 6000"/>
            </a:avLst>
          </a:prstGeom>
          <a:solidFill>
            <a:srgbClr val="281A01"/>
          </a:solidFill>
          <a:ln w="12700">
            <a:solidFill>
              <a:srgbClr val="7A4F05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6355080" y="3739896"/>
            <a:ext cx="731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59E0B"/>
                </a:solidFill>
                <a:latin typeface="Consolas"/>
              </a:defRPr>
            </a:pPr>
            <a:r>
              <a:rPr sz="1400"/>
              <a:t>0.887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758184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F0FE"/>
                </a:solidFill>
                <a:latin typeface="Segoe UI"/>
              </a:defRPr>
            </a:pPr>
            <a:r>
              <a:rPr sz="1100"/>
              <a:t>sellers table — return_rate, payment_disputes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279392"/>
            <a:ext cx="5303520" cy="548640"/>
          </a:xfrm>
          <a:prstGeom prst="roundRect">
            <a:avLst>
              <a:gd name="adj" fmla="val 4000"/>
            </a:avLst>
          </a:prstGeom>
          <a:solidFill>
            <a:srgbClr val="0E0902"/>
          </a:solidFill>
          <a:ln w="12700">
            <a:solidFill>
              <a:srgbClr val="513403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Rounded Rectangle 30"/>
          <p:cNvSpPr/>
          <p:nvPr/>
        </p:nvSpPr>
        <p:spPr>
          <a:xfrm>
            <a:off x="6355080" y="4370832"/>
            <a:ext cx="731520" cy="347472"/>
          </a:xfrm>
          <a:prstGeom prst="roundRect">
            <a:avLst>
              <a:gd name="adj" fmla="val 6000"/>
            </a:avLst>
          </a:prstGeom>
          <a:solidFill>
            <a:srgbClr val="281A01"/>
          </a:solidFill>
          <a:ln w="12700">
            <a:solidFill>
              <a:srgbClr val="7A4F05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6355080" y="4398264"/>
            <a:ext cx="731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59E0B"/>
                </a:solidFill>
                <a:latin typeface="Consolas"/>
              </a:defRPr>
            </a:pPr>
            <a:r>
              <a:rPr sz="1400"/>
              <a:t>0.863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416552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F0FE"/>
                </a:solidFill>
                <a:latin typeface="Segoe UI"/>
              </a:defRPr>
            </a:pPr>
            <a:r>
              <a:rPr sz="1100"/>
              <a:t>Risk tier classification (High/Critical)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937760"/>
            <a:ext cx="5303520" cy="548640"/>
          </a:xfrm>
          <a:prstGeom prst="roundRect">
            <a:avLst>
              <a:gd name="adj" fmla="val 4000"/>
            </a:avLst>
          </a:prstGeom>
          <a:solidFill>
            <a:srgbClr val="07080A"/>
          </a:solidFill>
          <a:ln w="12700">
            <a:solidFill>
              <a:srgbClr val="232A3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Rounded Rectangle 34"/>
          <p:cNvSpPr/>
          <p:nvPr/>
        </p:nvSpPr>
        <p:spPr>
          <a:xfrm>
            <a:off x="6355080" y="5029200"/>
            <a:ext cx="731520" cy="347472"/>
          </a:xfrm>
          <a:prstGeom prst="roundRect">
            <a:avLst>
              <a:gd name="adj" fmla="val 6000"/>
            </a:avLst>
          </a:prstGeom>
          <a:solidFill>
            <a:srgbClr val="11151B"/>
          </a:solidFill>
          <a:ln w="12700">
            <a:solidFill>
              <a:srgbClr val="353F51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6355080" y="5056632"/>
            <a:ext cx="731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7FA3"/>
                </a:solidFill>
                <a:latin typeface="Consolas"/>
              </a:defRPr>
            </a:pPr>
            <a:r>
              <a:rPr sz="1400"/>
              <a:t>0.741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074920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8F0FE"/>
                </a:solidFill>
                <a:latin typeface="Segoe UI"/>
              </a:defRPr>
            </a:pPr>
            <a:r>
              <a:rPr sz="1100"/>
              <a:t>quarterly aggregates via order_quarter column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669280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B7FA3"/>
                </a:solidFill>
                <a:latin typeface="Consolas"/>
              </a:defRPr>
            </a:pPr>
            <a:r>
              <a:rPr sz="1200" dirty="0"/>
              <a:t>SIMILARITY SCALE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5917631"/>
            <a:ext cx="5303520" cy="76200"/>
          </a:xfrm>
          <a:prstGeom prst="rect">
            <a:avLst/>
          </a:prstGeom>
          <a:gradFill rotWithShape="1">
            <a:gsLst>
              <a:gs pos="0">
                <a:srgbClr val="10B981"/>
              </a:gs>
              <a:gs pos="100000">
                <a:srgbClr val="6B7FA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17920" y="5989320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10B981"/>
                </a:solidFill>
                <a:latin typeface="Consolas"/>
              </a:defRPr>
            </a:pPr>
            <a:r>
              <a:t>1.0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5989320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B7FA3"/>
                </a:solidFill>
                <a:latin typeface="Consolas"/>
              </a:defRPr>
            </a:pPr>
            <a:r>
              <a:t>0.0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rPr sz="1600" dirty="0"/>
              <a:t>05 — EMBEDDING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8F0FE"/>
                </a:solidFill>
                <a:latin typeface="Segoe UI"/>
              </a:defRPr>
            </a:pPr>
            <a:r>
              <a:t>Jina AI Vectorization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FA3"/>
                </a:solidFill>
                <a:latin typeface="Segoe UI"/>
              </a:defRPr>
            </a:pPr>
            <a:r>
              <a:t>Automated Python pipeline reads from rag.documents, batches 50 docs at a time, calls Jina jina-embeddings-v5, and writes 1024-dim vectors to typed embedding tables.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060A10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" y="1920240"/>
            <a:ext cx="50800" cy="64008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8BD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Oval 6"/>
          <p:cNvSpPr/>
          <p:nvPr/>
        </p:nvSpPr>
        <p:spPr>
          <a:xfrm>
            <a:off x="731520" y="1993392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731520" y="2020824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sz="1400"/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3852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0FE"/>
                </a:solidFill>
                <a:latin typeface="Segoe UI"/>
              </a:defRPr>
            </a:pPr>
            <a:r>
              <a:rPr sz="1400"/>
              <a:t>Fetch Pending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Segoe UI"/>
              </a:defRPr>
            </a:pPr>
            <a:r>
              <a:rPr sz="1000"/>
              <a:t>Query rag.documents WHERE needs_reembedding = TRUE AND is_active = TRUE ordered by priority DESC.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057400"/>
            <a:ext cx="2377440" cy="320040"/>
          </a:xfrm>
          <a:prstGeom prst="roundRect">
            <a:avLst>
              <a:gd name="adj" fmla="val 10000"/>
            </a:avLst>
          </a:prstGeom>
          <a:solidFill>
            <a:srgbClr val="030810"/>
          </a:solidFill>
          <a:ln w="12700">
            <a:solidFill>
              <a:srgbClr val="0E203D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0" y="2084832"/>
            <a:ext cx="23774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8BD2FF"/>
                </a:solidFill>
                <a:latin typeface="Consolas"/>
              </a:defRPr>
            </a:pPr>
            <a:r>
              <a:rPr sz="1050" dirty="0"/>
              <a:t>psycopg2 · PostgreSQL cursor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0120" y="2651760"/>
            <a:ext cx="0" cy="137160"/>
          </a:xfrm>
          <a:prstGeom prst="line">
            <a:avLst/>
          </a:prstGeom>
          <a:ln w="19050">
            <a:solidFill>
              <a:srgbClr val="3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278892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030D0E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488" y="2880360"/>
            <a:ext cx="50800" cy="64008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100000">
                <a:srgbClr val="56FF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Oval 15"/>
          <p:cNvSpPr/>
          <p:nvPr/>
        </p:nvSpPr>
        <p:spPr>
          <a:xfrm>
            <a:off x="731520" y="2953512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  <a:effectLst>
            <a:glow rad="101600">
              <a:srgbClr val="06B6D4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731520" y="2980944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sz="1400"/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89864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0FE"/>
                </a:solidFill>
                <a:latin typeface="Segoe UI"/>
              </a:defRPr>
            </a:pPr>
            <a:r>
              <a:rPr sz="1400"/>
              <a:t>Batch + Enrich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154680"/>
            <a:ext cx="59436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Segoe UI"/>
              </a:defRPr>
            </a:pPr>
            <a:r>
              <a:rPr sz="1000"/>
              <a:t>Combine title + "\n\n" + content for richer context. Group into batches of 50.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017520"/>
            <a:ext cx="2377440" cy="320040"/>
          </a:xfrm>
          <a:prstGeom prst="roundRect">
            <a:avLst>
              <a:gd name="adj" fmla="val 10000"/>
            </a:avLst>
          </a:prstGeom>
          <a:solidFill>
            <a:srgbClr val="000C0E"/>
          </a:solidFill>
          <a:ln w="12700">
            <a:solidFill>
              <a:srgbClr val="012D35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3044952"/>
            <a:ext cx="23774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56FFFF"/>
                </a:solidFill>
                <a:latin typeface="Consolas"/>
              </a:defRPr>
            </a:pPr>
            <a:r>
              <a:rPr sz="1050" dirty="0"/>
              <a:t>BATCH_SIZE=50 · ~2K tokens/doc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0120" y="3611880"/>
            <a:ext cx="0" cy="137160"/>
          </a:xfrm>
          <a:prstGeom prst="line">
            <a:avLst/>
          </a:prstGeom>
          <a:ln w="19050">
            <a:solidFill>
              <a:srgbClr val="3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57200" y="374904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0A0810"/>
          </a:solidFill>
          <a:ln w="12700">
            <a:solidFill>
              <a:srgbClr val="2E1E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5488" y="3840480"/>
            <a:ext cx="50800" cy="64008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DBAC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Oval 24"/>
          <p:cNvSpPr/>
          <p:nvPr/>
        </p:nvSpPr>
        <p:spPr>
          <a:xfrm>
            <a:off x="731520" y="3913632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glow rad="101600">
              <a:srgbClr val="8B5CF6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731520" y="3941064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sz="1400"/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85876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0FE"/>
                </a:solidFill>
                <a:latin typeface="Segoe UI"/>
              </a:defRPr>
            </a:pPr>
            <a:r>
              <a:rPr sz="1400"/>
              <a:t>Jina API Call with Retry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1148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Segoe UI"/>
              </a:defRPr>
            </a:pPr>
            <a:r>
              <a:rPr sz="1000"/>
              <a:t>POST to api.jina.ai/v1/embeddings with task=retrieval.passage, normalized=true. Exponential backoff on 429.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3977640"/>
            <a:ext cx="2377440" cy="320040"/>
          </a:xfrm>
          <a:prstGeom prst="roundRect">
            <a:avLst>
              <a:gd name="adj" fmla="val 10000"/>
            </a:avLst>
          </a:prstGeom>
          <a:solidFill>
            <a:srgbClr val="090610"/>
          </a:solidFill>
          <a:ln w="12700">
            <a:solidFill>
              <a:srgbClr val="22173D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26013" y="4005072"/>
            <a:ext cx="24954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DBACFF"/>
                </a:solidFill>
                <a:latin typeface="Consolas"/>
              </a:defRPr>
            </a:pPr>
            <a:r>
              <a:rPr sz="1100" dirty="0"/>
              <a:t>jina-embeddings-v5 · 1024 dims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60120" y="4572000"/>
            <a:ext cx="0" cy="137160"/>
          </a:xfrm>
          <a:prstGeom prst="line">
            <a:avLst/>
          </a:prstGeom>
          <a:ln w="19050">
            <a:solidFill>
              <a:srgbClr val="3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7200" y="470916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100B03"/>
          </a:solidFill>
          <a:ln w="12700">
            <a:solidFill>
              <a:srgbClr val="513403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5488" y="4800600"/>
            <a:ext cx="50800" cy="640080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FFEE5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Oval 33"/>
          <p:cNvSpPr/>
          <p:nvPr/>
        </p:nvSpPr>
        <p:spPr>
          <a:xfrm>
            <a:off x="731520" y="4873752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glow rad="101600">
              <a:srgbClr val="F59E0B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731520" y="4901184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sz="1400"/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481888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0FE"/>
                </a:solidFill>
                <a:latin typeface="Segoe UI"/>
              </a:defRPr>
            </a:pPr>
            <a:r>
              <a:rPr sz="1400"/>
              <a:t>Route to Typed Tables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50749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Segoe UI"/>
              </a:defRPr>
            </a:pPr>
            <a:r>
              <a:rPr sz="1000"/>
              <a:t>EMBEDDING_TABLE_MAP routes by embedding_type: schema → schema_embeddings | review → review_embeddings | business_rule → business_embeddings | metric → metrics_embeddings.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6013" y="4937760"/>
            <a:ext cx="2495427" cy="320040"/>
          </a:xfrm>
          <a:prstGeom prst="roundRect">
            <a:avLst>
              <a:gd name="adj" fmla="val 10000"/>
            </a:avLst>
          </a:prstGeom>
          <a:solidFill>
            <a:srgbClr val="100A00"/>
          </a:solidFill>
          <a:ln w="12700">
            <a:solidFill>
              <a:srgbClr val="3D270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57187" y="4965192"/>
            <a:ext cx="25642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EE5B"/>
                </a:solidFill>
                <a:latin typeface="Consolas"/>
              </a:defRPr>
            </a:pPr>
            <a:r>
              <a:rPr sz="1100" dirty="0"/>
              <a:t>4 target tables · typed routing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60120" y="5532120"/>
            <a:ext cx="0" cy="137160"/>
          </a:xfrm>
          <a:prstGeom prst="line">
            <a:avLst/>
          </a:prstGeom>
          <a:ln w="19050">
            <a:solidFill>
              <a:srgbClr val="3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57200" y="566928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030D0A"/>
          </a:solidFill>
          <a:ln w="12700">
            <a:solidFill>
              <a:srgbClr val="053D2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75488" y="5760720"/>
            <a:ext cx="50800" cy="640080"/>
          </a:xfrm>
          <a:prstGeom prst="rect">
            <a:avLst/>
          </a:prstGeom>
          <a:gradFill rotWithShape="1">
            <a:gsLst>
              <a:gs pos="0">
                <a:srgbClr val="10B981"/>
              </a:gs>
              <a:gs pos="100000">
                <a:srgbClr val="60FFD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3" name="Oval 42"/>
          <p:cNvSpPr/>
          <p:nvPr/>
        </p:nvSpPr>
        <p:spPr>
          <a:xfrm>
            <a:off x="731520" y="5833872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glow rad="101600">
              <a:srgbClr val="10B981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4" name="TextBox 43"/>
          <p:cNvSpPr txBox="1"/>
          <p:nvPr/>
        </p:nvSpPr>
        <p:spPr>
          <a:xfrm>
            <a:off x="731520" y="5861304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sz="1400"/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577900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0FE"/>
                </a:solidFill>
                <a:latin typeface="Segoe UI"/>
              </a:defRPr>
            </a:pPr>
            <a:r>
              <a:rPr sz="1400"/>
              <a:t>Bulk Upsert + Flag Update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60350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Segoe UI"/>
              </a:defRPr>
            </a:pPr>
            <a:r>
              <a:rPr sz="1000"/>
              <a:t>execute_values bulk insert with ON CONFLICT DO UPDATE. Then UPDATE needs_reembedding = FALSE. Full transaction with rollback.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0" y="5897880"/>
            <a:ext cx="2377440" cy="320040"/>
          </a:xfrm>
          <a:prstGeom prst="roundRect">
            <a:avLst>
              <a:gd name="adj" fmla="val 10000"/>
            </a:avLst>
          </a:prstGeom>
          <a:solidFill>
            <a:srgbClr val="010C08"/>
          </a:solidFill>
          <a:ln w="12700">
            <a:solidFill>
              <a:srgbClr val="042E20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26013" y="5925312"/>
            <a:ext cx="24954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60FFD1"/>
                </a:solidFill>
                <a:latin typeface="Consolas"/>
              </a:defRPr>
            </a:pPr>
            <a:r>
              <a:rPr sz="1100" dirty="0" err="1"/>
              <a:t>execute_values</a:t>
            </a:r>
            <a:r>
              <a:rPr sz="1100" dirty="0"/>
              <a:t> · atomic commit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rPr sz="1600" dirty="0"/>
              <a:t>05 — EMBEDDING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8F0FE"/>
                </a:solidFill>
                <a:latin typeface="Segoe UI"/>
              </a:defRPr>
            </a:pPr>
            <a:r>
              <a:t>Pipeline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5303520"/>
          </a:xfrm>
          <a:prstGeom prst="roundRect">
            <a:avLst>
              <a:gd name="adj" fmla="val 4000"/>
            </a:avLst>
          </a:prstGeom>
          <a:solidFill>
            <a:srgbClr val="0D1520"/>
          </a:solidFill>
          <a:ln w="12700">
            <a:solidFill>
              <a:srgbClr val="1A2435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32588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32588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" y="132588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29844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FA3"/>
                </a:solidFill>
                <a:latin typeface="Consolas"/>
              </a:defRPr>
            </a:pPr>
            <a:r>
              <a:t>Python — embedding_pipeline.py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10881360" cy="12700"/>
          </a:xfrm>
          <a:prstGeom prst="rect">
            <a:avLst/>
          </a:prstGeom>
          <a:gradFill rotWithShape="1">
            <a:gsLst>
              <a:gs pos="0">
                <a:srgbClr val="3A506E"/>
              </a:gs>
              <a:gs pos="100000">
                <a:srgbClr val="1A243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FA3"/>
                </a:solidFill>
                <a:latin typeface="Consolas"/>
              </a:defRPr>
            </a:pPr>
            <a:r>
              <a:rPr sz="1200" dirty="0"/>
              <a:t># Route embedding to correct </a:t>
            </a:r>
            <a:r>
              <a:rPr sz="1200" dirty="0" err="1"/>
              <a:t>pgvector</a:t>
            </a:r>
            <a:r>
              <a:rPr sz="1200" dirty="0"/>
              <a:t> table</a:t>
            </a:r>
            <a:br>
              <a:rPr sz="1200" dirty="0"/>
            </a:br>
            <a:r>
              <a:rPr sz="1200" dirty="0"/>
              <a:t>EMBEDDING_TABLE_MAP = {</a:t>
            </a:r>
            <a:br>
              <a:rPr sz="1200" dirty="0"/>
            </a:br>
            <a:r>
              <a:rPr sz="1200" dirty="0"/>
              <a:t>    'schema':         '</a:t>
            </a:r>
            <a:r>
              <a:rPr sz="1200" dirty="0" err="1"/>
              <a:t>rag.schema_embeddings</a:t>
            </a:r>
            <a:r>
              <a:rPr sz="1200" dirty="0"/>
              <a:t>',</a:t>
            </a:r>
            <a:br>
              <a:rPr sz="1200" dirty="0"/>
            </a:br>
            <a:r>
              <a:rPr sz="1200" dirty="0"/>
              <a:t>    'review':         '</a:t>
            </a:r>
            <a:r>
              <a:rPr sz="1200" dirty="0" err="1"/>
              <a:t>rag.review_embeddings</a:t>
            </a:r>
            <a:r>
              <a:rPr sz="1200" dirty="0"/>
              <a:t>',</a:t>
            </a:r>
            <a:br>
              <a:rPr sz="1200" dirty="0"/>
            </a:br>
            <a:r>
              <a:rPr sz="1200" dirty="0"/>
              <a:t>    '</a:t>
            </a:r>
            <a:r>
              <a:rPr sz="1200" dirty="0" err="1"/>
              <a:t>business_rule</a:t>
            </a:r>
            <a:r>
              <a:rPr sz="1200" dirty="0"/>
              <a:t>':  '</a:t>
            </a:r>
            <a:r>
              <a:rPr sz="1200" dirty="0" err="1"/>
              <a:t>rag.business_embeddings</a:t>
            </a:r>
            <a:r>
              <a:rPr sz="1200" dirty="0"/>
              <a:t>',</a:t>
            </a:r>
            <a:br>
              <a:rPr sz="1200" dirty="0"/>
            </a:br>
            <a:r>
              <a:rPr sz="1200" dirty="0"/>
              <a:t>    'metric':         '</a:t>
            </a:r>
            <a:r>
              <a:rPr sz="1200" dirty="0" err="1"/>
              <a:t>rag.metrics_embeddings</a:t>
            </a:r>
            <a:r>
              <a:rPr sz="1200" dirty="0"/>
              <a:t>'</a:t>
            </a:r>
            <a:br>
              <a:rPr sz="1200" dirty="0"/>
            </a:br>
            <a:r>
              <a:rPr sz="1200" dirty="0"/>
              <a:t>}</a:t>
            </a:r>
            <a:br>
              <a:rPr sz="1200" dirty="0"/>
            </a:br>
            <a:br>
              <a:rPr sz="1200" dirty="0"/>
            </a:br>
            <a:r>
              <a:rPr sz="1200" dirty="0"/>
              <a:t># Bulk </a:t>
            </a:r>
            <a:r>
              <a:rPr sz="1200" dirty="0" err="1"/>
              <a:t>upsert</a:t>
            </a:r>
            <a:r>
              <a:rPr sz="1200" dirty="0"/>
              <a:t> vectors with conflict handling</a:t>
            </a:r>
            <a:br>
              <a:rPr sz="1200" dirty="0"/>
            </a:br>
            <a:r>
              <a:rPr sz="1200" dirty="0"/>
              <a:t>for </a:t>
            </a:r>
            <a:r>
              <a:rPr sz="1200" dirty="0" err="1"/>
              <a:t>table_name</a:t>
            </a:r>
            <a:r>
              <a:rPr sz="1200" dirty="0"/>
              <a:t>, rows in </a:t>
            </a:r>
            <a:r>
              <a:rPr sz="1200" dirty="0" err="1"/>
              <a:t>insert_map.items</a:t>
            </a:r>
            <a:r>
              <a:rPr sz="1200" dirty="0"/>
              <a:t>():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execute_values</a:t>
            </a:r>
            <a:r>
              <a:rPr sz="1200" dirty="0"/>
              <a:t>(cursor,</a:t>
            </a:r>
            <a:br>
              <a:rPr sz="1200" dirty="0"/>
            </a:br>
            <a:r>
              <a:rPr sz="1200" dirty="0"/>
              <a:t>        </a:t>
            </a:r>
            <a:r>
              <a:rPr sz="1200" dirty="0" err="1"/>
              <a:t>f"""INSERT</a:t>
            </a:r>
            <a:r>
              <a:rPr sz="1200" dirty="0"/>
              <a:t> INTO {</a:t>
            </a:r>
            <a:r>
              <a:rPr sz="1200" dirty="0" err="1"/>
              <a:t>table_name</a:t>
            </a:r>
            <a:r>
              <a:rPr sz="1200" dirty="0"/>
              <a:t>} (</a:t>
            </a:r>
            <a:r>
              <a:rPr sz="1200" dirty="0" err="1"/>
              <a:t>doc_id</a:t>
            </a:r>
            <a:r>
              <a:rPr sz="1200" dirty="0"/>
              <a:t>, embedding)</a:t>
            </a:r>
            <a:br>
              <a:rPr sz="1200" dirty="0"/>
            </a:br>
            <a:r>
              <a:rPr sz="1200" dirty="0"/>
              <a:t>            VALUES %s ON CONFLICT (</a:t>
            </a:r>
            <a:r>
              <a:rPr sz="1200" dirty="0" err="1"/>
              <a:t>doc_id</a:t>
            </a:r>
            <a:r>
              <a:rPr sz="1200" dirty="0"/>
              <a:t>)</a:t>
            </a:r>
            <a:br>
              <a:rPr sz="1200" dirty="0"/>
            </a:br>
            <a:r>
              <a:rPr sz="1200" dirty="0"/>
              <a:t>            DO UPDATE SET embedding = </a:t>
            </a:r>
            <a:r>
              <a:rPr sz="1200" dirty="0" err="1"/>
              <a:t>EXCLUDED.embedding</a:t>
            </a:r>
            <a:r>
              <a:rPr sz="1200" dirty="0"/>
              <a:t>""",</a:t>
            </a:r>
            <a:br>
              <a:rPr sz="1200" dirty="0"/>
            </a:br>
            <a:r>
              <a:rPr sz="1200" dirty="0"/>
              <a:t>        rows)</a:t>
            </a:r>
            <a:br>
              <a:rPr sz="1200" dirty="0"/>
            </a:br>
            <a:br>
              <a:rPr sz="1200" dirty="0"/>
            </a:br>
            <a:r>
              <a:rPr sz="1200" dirty="0"/>
              <a:t># Mark documents as processed</a:t>
            </a:r>
            <a:br>
              <a:rPr sz="1200" dirty="0"/>
            </a:br>
            <a:r>
              <a:rPr sz="1200" dirty="0" err="1"/>
              <a:t>cursor.execute</a:t>
            </a:r>
            <a:r>
              <a:rPr sz="1200" dirty="0"/>
              <a:t>("""</a:t>
            </a:r>
            <a:br>
              <a:rPr sz="1200" dirty="0"/>
            </a:br>
            <a:r>
              <a:rPr sz="1200" dirty="0"/>
              <a:t>    UPDATE </a:t>
            </a:r>
            <a:r>
              <a:rPr sz="1200" dirty="0" err="1"/>
              <a:t>rag.documents</a:t>
            </a:r>
            <a:br>
              <a:rPr sz="1200" dirty="0"/>
            </a:br>
            <a:r>
              <a:rPr sz="1200" dirty="0"/>
              <a:t>    SET </a:t>
            </a:r>
            <a:r>
              <a:rPr sz="1200" dirty="0" err="1"/>
              <a:t>needs_reembedding</a:t>
            </a:r>
            <a:r>
              <a:rPr sz="1200" dirty="0"/>
              <a:t> = FALSE</a:t>
            </a:r>
            <a:br>
              <a:rPr sz="1200" dirty="0"/>
            </a:br>
            <a:r>
              <a:rPr sz="1200" dirty="0"/>
              <a:t>    WHERE </a:t>
            </a:r>
            <a:r>
              <a:rPr sz="1200" dirty="0" err="1"/>
              <a:t>doc_id</a:t>
            </a:r>
            <a:r>
              <a:rPr sz="1200" dirty="0"/>
              <a:t> = ANY(%s)</a:t>
            </a:r>
            <a:br>
              <a:rPr sz="1200" dirty="0"/>
            </a:br>
            <a:r>
              <a:rPr sz="1200" dirty="0"/>
              <a:t>""", (</a:t>
            </a:r>
            <a:r>
              <a:rPr sz="1200" dirty="0" err="1"/>
              <a:t>processed_ids</a:t>
            </a:r>
            <a:r>
              <a:rPr sz="1200" dirty="0"/>
              <a:t>,))</a:t>
            </a:r>
            <a:br>
              <a:rPr sz="1200" dirty="0"/>
            </a:br>
            <a:br>
              <a:rPr sz="1200" dirty="0"/>
            </a:br>
            <a:r>
              <a:rPr sz="1200" dirty="0" err="1"/>
              <a:t>conn.commit</a:t>
            </a:r>
            <a:r>
              <a:rPr sz="1200" dirty="0"/>
              <a:t>()  # Atomic transaction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rPr sz="1600" dirty="0"/>
              <a:t>06 —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8F0FE"/>
                </a:solidFill>
                <a:latin typeface="Segoe UI"/>
              </a:defRPr>
            </a:pPr>
            <a:r>
              <a:t>Engineered for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FA3"/>
                </a:solidFill>
                <a:latin typeface="Segoe UI"/>
              </a:defRPr>
            </a:pPr>
            <a:r>
              <a:rPr dirty="0"/>
              <a:t>Every millisecond optimized. BRIN indexes on timestamps, </a:t>
            </a:r>
            <a:r>
              <a:rPr dirty="0" err="1"/>
              <a:t>IVFFlat</a:t>
            </a:r>
            <a:r>
              <a:rPr dirty="0"/>
              <a:t> on vectors, partial indexes on anomaly flags, CONCURRENTLY refreshed materialized 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060A10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2084832"/>
            <a:ext cx="3200400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8BD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3B82F6"/>
                </a:solidFill>
                <a:latin typeface="Segoe UI"/>
              </a:defRPr>
            </a:pPr>
            <a:r>
              <a:t>&lt;50ms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0FE"/>
                </a:solidFill>
                <a:latin typeface="Segoe UI"/>
              </a:defRPr>
            </a:pPr>
            <a:r>
              <a:t>Materialized View Queries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3108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Segoe UI"/>
              </a:defRPr>
            </a:pPr>
            <a:r>
              <a:rPr sz="1200"/>
              <a:t>mv_leakage_dashboard, mv_seller_risk pre-computed. No runtime JOINs. Chatbot agent queries hit indexes, not raw tables.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01168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030D0E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084832"/>
            <a:ext cx="3200400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100000">
                <a:srgbClr val="56FF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6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6B6D4"/>
                </a:solidFill>
                <a:latin typeface="Segoe UI"/>
              </a:defRPr>
            </a:pPr>
            <a:r>
              <a:t>~10ms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926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0FE"/>
                </a:solidFill>
                <a:latin typeface="Segoe UI"/>
              </a:defRPr>
            </a:pPr>
            <a:r>
              <a:t>Vector ANN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291840"/>
            <a:ext cx="3108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Segoe UI"/>
              </a:defRPr>
            </a:pPr>
            <a:r>
              <a:rPr sz="1200"/>
              <a:t>IVFFlat with lists=100 achieves 98% recall at 10x the speed of exact search on 260K+ embedding vectors.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01168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0A0810"/>
          </a:solidFill>
          <a:ln w="12700">
            <a:solidFill>
              <a:srgbClr val="2E1E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2084832"/>
            <a:ext cx="3200400" cy="381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DBAC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8B5CF6"/>
                </a:solidFill>
                <a:latin typeface="Segoe UI"/>
              </a:defRPr>
            </a:pPr>
            <a:r>
              <a:t>O(√n)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2926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0FE"/>
                </a:solidFill>
                <a:latin typeface="Segoe UI"/>
              </a:defRPr>
            </a:pPr>
            <a:r>
              <a:t>IVFFlat Complexity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291840"/>
            <a:ext cx="3108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Segoe UI"/>
              </a:defRPr>
            </a:pPr>
            <a:r>
              <a:rPr sz="1200"/>
              <a:t>Instead of scanning all vectors O(n), IVFFlat probes the nearest centroid lists only, reducing search space by ~10x.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720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060A10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Rectangle 20"/>
          <p:cNvSpPr/>
          <p:nvPr/>
        </p:nvSpPr>
        <p:spPr>
          <a:xfrm>
            <a:off x="594360" y="4617720"/>
            <a:ext cx="38100" cy="155448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8BD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731520" y="4681728"/>
            <a:ext cx="301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B82F6"/>
                </a:solidFill>
                <a:latin typeface="Consolas"/>
              </a:defRPr>
            </a:pPr>
            <a:r>
              <a:rPr sz="1400"/>
              <a:t>BRIN 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83480"/>
            <a:ext cx="3017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Segoe UI"/>
              </a:defRPr>
            </a:pPr>
            <a:r>
              <a:rPr sz="1200"/>
              <a:t>On order_purchase_timestamp. 128 pages per range. 300x smaller than B-tree for append-only columns.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45720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030D0E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Rectangle 24"/>
          <p:cNvSpPr/>
          <p:nvPr/>
        </p:nvSpPr>
        <p:spPr>
          <a:xfrm>
            <a:off x="4343399" y="4617720"/>
            <a:ext cx="38100" cy="155448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100000">
                <a:srgbClr val="56FF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TextBox 25"/>
          <p:cNvSpPr txBox="1"/>
          <p:nvPr/>
        </p:nvSpPr>
        <p:spPr>
          <a:xfrm>
            <a:off x="4480559" y="4681728"/>
            <a:ext cx="301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rPr sz="1400"/>
              <a:t>PARTIAL INDEXES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4983480"/>
            <a:ext cx="3017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Segoe UI"/>
              </a:defRPr>
            </a:pPr>
            <a:r>
              <a:rPr sz="1200"/>
              <a:t>On anomaly_flag=1, shipping_status='never_shipped'. Index only rows that matter to leakage queries.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8" y="45720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0A0810"/>
          </a:solidFill>
          <a:ln w="12700">
            <a:solidFill>
              <a:srgbClr val="2E1E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Rectangle 28"/>
          <p:cNvSpPr/>
          <p:nvPr/>
        </p:nvSpPr>
        <p:spPr>
          <a:xfrm>
            <a:off x="8092438" y="4617720"/>
            <a:ext cx="38100" cy="155448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DBAC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0" name="TextBox 29"/>
          <p:cNvSpPr txBox="1"/>
          <p:nvPr/>
        </p:nvSpPr>
        <p:spPr>
          <a:xfrm>
            <a:off x="8229598" y="4681728"/>
            <a:ext cx="3017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B5CF6"/>
                </a:solidFill>
                <a:latin typeface="Consolas"/>
              </a:defRPr>
            </a:pPr>
            <a:r>
              <a:rPr sz="1400"/>
              <a:t>GIN ARRAY INDEX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8" y="4983480"/>
            <a:ext cx="3017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Segoe UI"/>
              </a:defRPr>
            </a:pPr>
            <a:r>
              <a:rPr sz="1200"/>
              <a:t>On leakage_scenarios[]. Fast WHERE 'duplicate_refund' = ANY(leakage_scenarios) without full scan.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rPr sz="1600" dirty="0"/>
              <a:t>06 —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8F0FE"/>
                </a:solidFill>
                <a:latin typeface="Segoe UI"/>
              </a:defRPr>
            </a:pPr>
            <a:r>
              <a:t>System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069432"/>
              </p:ext>
            </p:extLst>
          </p:nvPr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6B6D4"/>
                          </a:solidFill>
                          <a:latin typeface="Consolas"/>
                        </a:rPr>
                        <a:t>Capability</a:t>
                      </a:r>
                    </a:p>
                  </a:txBody>
                  <a:tcPr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6B6D4"/>
                          </a:solidFill>
                          <a:latin typeface="Consolas"/>
                        </a:rPr>
                        <a:t>This System</a:t>
                      </a:r>
                    </a:p>
                  </a:txBody>
                  <a:tcPr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6B6D4"/>
                          </a:solidFill>
                          <a:latin typeface="Consolas"/>
                        </a:rPr>
                        <a:t>Traditional RDBMS</a:t>
                      </a:r>
                    </a:p>
                  </a:txBody>
                  <a:tcPr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6B6D4"/>
                          </a:solidFill>
                          <a:latin typeface="Consolas"/>
                        </a:rPr>
                        <a:t>Standalone Vector DB</a:t>
                      </a:r>
                    </a:p>
                  </a:txBody>
                  <a:tcPr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8F0FE"/>
                          </a:solidFill>
                          <a:latin typeface="Consolas"/>
                        </a:rPr>
                        <a:t>Semantic Search</a:t>
                      </a:r>
                    </a:p>
                  </a:txBody>
                  <a:tcPr>
                    <a:solidFill>
                      <a:srgbClr val="060C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6B6D4"/>
                          </a:solidFill>
                          <a:latin typeface="Consolas"/>
                        </a:rPr>
                        <a:t>✓ Native pgvector</a:t>
                      </a:r>
                    </a:p>
                  </a:txBody>
                  <a:tcPr>
                    <a:solidFill>
                      <a:srgbClr val="0C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EF4444"/>
                          </a:solidFill>
                          <a:latin typeface="Consolas"/>
                        </a:rPr>
                        <a:t>✗ Not supported</a:t>
                      </a:r>
                    </a:p>
                  </a:txBody>
                  <a:tcPr>
                    <a:solidFill>
                      <a:srgbClr val="060C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0B981"/>
                          </a:solidFill>
                          <a:latin typeface="Consolas"/>
                        </a:rPr>
                        <a:t>✓ Primary use case</a:t>
                      </a:r>
                    </a:p>
                  </a:txBody>
                  <a:tcPr>
                    <a:solidFill>
                      <a:srgbClr val="060C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8F0FE"/>
                          </a:solidFill>
                          <a:latin typeface="Consolas"/>
                        </a:rPr>
                        <a:t>ACID Transactions</a:t>
                      </a:r>
                    </a:p>
                  </a:txBody>
                  <a:tcPr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6B6D4"/>
                          </a:solidFill>
                          <a:latin typeface="Consolas"/>
                        </a:rPr>
                        <a:t>✓ Full PostgreSQL</a:t>
                      </a:r>
                    </a:p>
                  </a:txBody>
                  <a:tcPr>
                    <a:solidFill>
                      <a:srgbClr val="0C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0B981"/>
                          </a:solidFill>
                          <a:latin typeface="Consolas"/>
                        </a:rPr>
                        <a:t>✓ Full support</a:t>
                      </a:r>
                    </a:p>
                  </a:txBody>
                  <a:tcPr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EF4444"/>
                          </a:solidFill>
                          <a:latin typeface="Consolas"/>
                        </a:rPr>
                        <a:t>✗ Limited / none</a:t>
                      </a:r>
                    </a:p>
                  </a:txBody>
                  <a:tcPr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8F0FE"/>
                          </a:solidFill>
                          <a:latin typeface="Consolas"/>
                        </a:rPr>
                        <a:t>JOIN with Business Data</a:t>
                      </a:r>
                    </a:p>
                  </a:txBody>
                  <a:tcPr>
                    <a:solidFill>
                      <a:srgbClr val="060C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6B6D4"/>
                          </a:solidFill>
                          <a:latin typeface="Consolas"/>
                        </a:rPr>
                        <a:t>✓ Single query</a:t>
                      </a:r>
                    </a:p>
                  </a:txBody>
                  <a:tcPr>
                    <a:solidFill>
                      <a:srgbClr val="0C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0B981"/>
                          </a:solidFill>
                          <a:latin typeface="Consolas"/>
                        </a:rPr>
                        <a:t>✓ SQL joins</a:t>
                      </a:r>
                    </a:p>
                  </a:txBody>
                  <a:tcPr>
                    <a:solidFill>
                      <a:srgbClr val="060C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EF4444"/>
                          </a:solidFill>
                          <a:latin typeface="Consolas"/>
                        </a:rPr>
                        <a:t>✗ Requires ETL sync</a:t>
                      </a:r>
                    </a:p>
                  </a:txBody>
                  <a:tcPr>
                    <a:solidFill>
                      <a:srgbClr val="060C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8F0FE"/>
                          </a:solidFill>
                          <a:latin typeface="Consolas"/>
                        </a:rPr>
                        <a:t>Infrastructure Complexity</a:t>
                      </a:r>
                    </a:p>
                  </a:txBody>
                  <a:tcPr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6B6D4"/>
                          </a:solidFill>
                          <a:latin typeface="Consolas"/>
                        </a:rPr>
                        <a:t>✓ One container</a:t>
                      </a:r>
                    </a:p>
                  </a:txBody>
                  <a:tcPr>
                    <a:solidFill>
                      <a:srgbClr val="0C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0B981"/>
                          </a:solidFill>
                          <a:latin typeface="Consolas"/>
                        </a:rPr>
                        <a:t>✓ Simple</a:t>
                      </a:r>
                    </a:p>
                  </a:txBody>
                  <a:tcPr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EF4444"/>
                          </a:solidFill>
                          <a:latin typeface="Consolas"/>
                        </a:rPr>
                        <a:t>✗ Extra service + sync</a:t>
                      </a:r>
                    </a:p>
                  </a:txBody>
                  <a:tcPr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8F0FE"/>
                          </a:solidFill>
                          <a:latin typeface="Consolas"/>
                        </a:rPr>
                        <a:t>Typed Enums + Constraints</a:t>
                      </a:r>
                    </a:p>
                  </a:txBody>
                  <a:tcPr>
                    <a:solidFill>
                      <a:srgbClr val="060C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6B6D4"/>
                          </a:solidFill>
                          <a:latin typeface="Consolas"/>
                        </a:rPr>
                        <a:t>✓ Full type safety</a:t>
                      </a:r>
                    </a:p>
                  </a:txBody>
                  <a:tcPr>
                    <a:solidFill>
                      <a:srgbClr val="0C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0B981"/>
                          </a:solidFill>
                          <a:latin typeface="Consolas"/>
                        </a:rPr>
                        <a:t>✓ Supported</a:t>
                      </a:r>
                    </a:p>
                  </a:txBody>
                  <a:tcPr>
                    <a:solidFill>
                      <a:srgbClr val="060C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EF4444"/>
                          </a:solidFill>
                          <a:latin typeface="Consolas"/>
                        </a:rPr>
                        <a:t>✗ Schema-less</a:t>
                      </a:r>
                    </a:p>
                  </a:txBody>
                  <a:tcPr>
                    <a:solidFill>
                      <a:srgbClr val="060C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8F0FE"/>
                          </a:solidFill>
                          <a:latin typeface="Consolas"/>
                        </a:rPr>
                        <a:t>Materialized Views</a:t>
                      </a:r>
                    </a:p>
                  </a:txBody>
                  <a:tcPr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6B6D4"/>
                          </a:solidFill>
                          <a:latin typeface="Consolas"/>
                        </a:rPr>
                        <a:t>✓ 4 MVs + CONCURRENTLY</a:t>
                      </a:r>
                    </a:p>
                  </a:txBody>
                  <a:tcPr>
                    <a:solidFill>
                      <a:srgbClr val="0C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0B981"/>
                          </a:solidFill>
                          <a:latin typeface="Consolas"/>
                        </a:rPr>
                        <a:t>✓ Standard feature</a:t>
                      </a:r>
                    </a:p>
                  </a:txBody>
                  <a:tcPr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EF4444"/>
                          </a:solidFill>
                          <a:latin typeface="Consolas"/>
                        </a:rPr>
                        <a:t>✗ Not applicable</a:t>
                      </a:r>
                    </a:p>
                  </a:txBody>
                  <a:tcPr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8F0FE"/>
                          </a:solidFill>
                          <a:latin typeface="Consolas"/>
                        </a:rPr>
                        <a:t>Incremental Re-embedding</a:t>
                      </a:r>
                    </a:p>
                  </a:txBody>
                  <a:tcPr>
                    <a:solidFill>
                      <a:srgbClr val="060C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6B6D4"/>
                          </a:solidFill>
                          <a:latin typeface="Consolas"/>
                        </a:rPr>
                        <a:t>✓ needs_reembedding flag</a:t>
                      </a:r>
                    </a:p>
                  </a:txBody>
                  <a:tcPr>
                    <a:solidFill>
                      <a:srgbClr val="0C1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EF4444"/>
                          </a:solidFill>
                          <a:latin typeface="Consolas"/>
                        </a:rPr>
                        <a:t>✗ Manual</a:t>
                      </a:r>
                    </a:p>
                  </a:txBody>
                  <a:tcPr>
                    <a:solidFill>
                      <a:srgbClr val="060C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EF4444"/>
                          </a:solidFill>
                          <a:latin typeface="Consolas"/>
                        </a:rPr>
                        <a:t>✗ Full re-index</a:t>
                      </a:r>
                    </a:p>
                  </a:txBody>
                  <a:tcPr>
                    <a:solidFill>
                      <a:srgbClr val="060C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rPr sz="1600" dirty="0"/>
              <a:t>07 — AI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8F0FE"/>
                </a:solidFill>
                <a:latin typeface="Segoe UI"/>
              </a:defRPr>
            </a:pPr>
            <a:r>
              <a:t>Intelligent 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FA3"/>
                </a:solidFill>
                <a:latin typeface="Segoe UI"/>
              </a:defRPr>
            </a:pPr>
            <a:r>
              <a:t>The chatbot operates as a Text-to-SQL + RAG hybrid. Retrieved schema context guides SQL generation. sql_guard prevents injection. retrieval_log tracks hallucinations.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94960" cy="1600200"/>
          </a:xfrm>
          <a:prstGeom prst="roundRect">
            <a:avLst>
              <a:gd name="adj" fmla="val 5000"/>
            </a:avLst>
          </a:prstGeom>
          <a:solidFill>
            <a:srgbClr val="060A10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ectangle 5"/>
          <p:cNvSpPr/>
          <p:nvPr/>
        </p:nvSpPr>
        <p:spPr>
          <a:xfrm>
            <a:off x="548640" y="1883664"/>
            <a:ext cx="5212080" cy="3175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8BD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535121" y="1905927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8F0FE"/>
                </a:solidFill>
                <a:latin typeface="Segoe UI"/>
              </a:defRPr>
            </a:pPr>
            <a:r>
              <a:rPr sz="2400" dirty="0"/>
              <a:t>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0FE"/>
                </a:solidFill>
                <a:latin typeface="Segoe UI"/>
              </a:defRPr>
            </a:pPr>
            <a:r>
              <a:rPr sz="1600"/>
              <a:t>Text-to-SQL via RAG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512064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Segoe UI"/>
              </a:defRPr>
            </a:pPr>
            <a:r>
              <a:rPr sz="1050"/>
              <a:t>When a user asks "show leakage by seller this month", the agent retrieves the most relevant schema chunks (mv_seller_risk description, ORDER BY leakage_rate_pct hint), then generates precise SQL.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136392"/>
            <a:ext cx="1554480" cy="201168"/>
          </a:xfrm>
          <a:prstGeom prst="roundRect">
            <a:avLst>
              <a:gd name="adj" fmla="val 10000"/>
            </a:avLst>
          </a:prstGeom>
          <a:solidFill>
            <a:srgbClr val="040A14"/>
          </a:solidFill>
          <a:ln w="12700">
            <a:solidFill>
              <a:srgbClr val="0E203D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594360" y="3154680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B82F6"/>
                </a:solidFill>
                <a:latin typeface="Consolas"/>
              </a:defRPr>
            </a:pPr>
            <a:r>
              <a:rPr sz="900"/>
              <a:t>schema_embeddings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3136392"/>
            <a:ext cx="1554480" cy="201168"/>
          </a:xfrm>
          <a:prstGeom prst="roundRect">
            <a:avLst>
              <a:gd name="adj" fmla="val 10000"/>
            </a:avLst>
          </a:prstGeom>
          <a:solidFill>
            <a:srgbClr val="040A14"/>
          </a:solidFill>
          <a:ln w="12700">
            <a:solidFill>
              <a:srgbClr val="0E203D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2286000" y="3154680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B82F6"/>
                </a:solidFill>
                <a:latin typeface="Consolas"/>
              </a:defRPr>
            </a:pPr>
            <a:r>
              <a:rPr sz="900"/>
              <a:t>chatbot_prompt_versions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40" y="3136392"/>
            <a:ext cx="1554480" cy="201168"/>
          </a:xfrm>
          <a:prstGeom prst="roundRect">
            <a:avLst>
              <a:gd name="adj" fmla="val 10000"/>
            </a:avLst>
          </a:prstGeom>
          <a:solidFill>
            <a:srgbClr val="040A14"/>
          </a:solidFill>
          <a:ln w="12700">
            <a:solidFill>
              <a:srgbClr val="0E203D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3977640" y="3154680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B82F6"/>
                </a:solidFill>
                <a:latin typeface="Consolas"/>
              </a:defRPr>
            </a:pPr>
            <a:r>
              <a:rPr sz="900"/>
              <a:t>generated_sql logged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828800"/>
            <a:ext cx="5394960" cy="1600200"/>
          </a:xfrm>
          <a:prstGeom prst="roundRect">
            <a:avLst>
              <a:gd name="adj" fmla="val 5000"/>
            </a:avLst>
          </a:prstGeom>
          <a:solidFill>
            <a:srgbClr val="030D0A"/>
          </a:solidFill>
          <a:ln w="12700">
            <a:solidFill>
              <a:srgbClr val="053D2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/>
        </p:nvSpPr>
        <p:spPr>
          <a:xfrm>
            <a:off x="6172200" y="1883664"/>
            <a:ext cx="5212080" cy="31750"/>
          </a:xfrm>
          <a:prstGeom prst="rect">
            <a:avLst/>
          </a:prstGeom>
          <a:gradFill rotWithShape="1">
            <a:gsLst>
              <a:gs pos="0">
                <a:srgbClr val="10B981"/>
              </a:gs>
              <a:gs pos="100000">
                <a:srgbClr val="60FFD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6197764" y="1895148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8F0FE"/>
                </a:solidFill>
                <a:latin typeface="Segoe UI"/>
              </a:defRPr>
            </a:pPr>
            <a:r>
              <a:rPr sz="2400" dirty="0"/>
              <a:t>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965960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0FE"/>
                </a:solidFill>
                <a:latin typeface="Segoe UI"/>
              </a:defRPr>
            </a:pPr>
            <a:r>
              <a:rPr sz="1600"/>
              <a:t>SQL Injection 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286000"/>
            <a:ext cx="51206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Segoe UI"/>
              </a:defRPr>
            </a:pPr>
            <a:r>
              <a:rPr sz="1050"/>
              <a:t>Every generated SQL passes through rag.sql_guard. Pattern matching catches DROP TABLE, UNION SELECT. guard_mode controls block vs warn. Logged per session.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136392"/>
            <a:ext cx="1554480" cy="201168"/>
          </a:xfrm>
          <a:prstGeom prst="roundRect">
            <a:avLst>
              <a:gd name="adj" fmla="val 10000"/>
            </a:avLst>
          </a:prstGeom>
          <a:solidFill>
            <a:srgbClr val="010F0A"/>
          </a:solidFill>
          <a:ln w="12700">
            <a:solidFill>
              <a:srgbClr val="042E20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6217920" y="3154680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10B981"/>
                </a:solidFill>
                <a:latin typeface="Consolas"/>
              </a:defRPr>
            </a:pPr>
            <a:r>
              <a:rPr sz="900"/>
              <a:t>sql_guard table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3136392"/>
            <a:ext cx="1554480" cy="201168"/>
          </a:xfrm>
          <a:prstGeom prst="roundRect">
            <a:avLst>
              <a:gd name="adj" fmla="val 10000"/>
            </a:avLst>
          </a:prstGeom>
          <a:solidFill>
            <a:srgbClr val="010F0A"/>
          </a:solidFill>
          <a:ln w="12700">
            <a:solidFill>
              <a:srgbClr val="042E20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7909560" y="3154680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10B981"/>
                </a:solidFill>
                <a:latin typeface="Consolas"/>
              </a:defRPr>
            </a:pPr>
            <a:r>
              <a:rPr sz="900"/>
              <a:t>pattern matching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3136392"/>
            <a:ext cx="1554480" cy="201168"/>
          </a:xfrm>
          <a:prstGeom prst="roundRect">
            <a:avLst>
              <a:gd name="adj" fmla="val 10000"/>
            </a:avLst>
          </a:prstGeom>
          <a:solidFill>
            <a:srgbClr val="010F0A"/>
          </a:solidFill>
          <a:ln w="12700">
            <a:solidFill>
              <a:srgbClr val="042E20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9601200" y="3154680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10B981"/>
                </a:solidFill>
                <a:latin typeface="Consolas"/>
              </a:defRPr>
            </a:pPr>
            <a:r>
              <a:rPr sz="900"/>
              <a:t>session logging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38728"/>
            <a:ext cx="5394960" cy="1600200"/>
          </a:xfrm>
          <a:prstGeom prst="roundRect">
            <a:avLst>
              <a:gd name="adj" fmla="val 5000"/>
            </a:avLst>
          </a:prstGeom>
          <a:solidFill>
            <a:srgbClr val="0A0810"/>
          </a:solidFill>
          <a:ln w="12700">
            <a:solidFill>
              <a:srgbClr val="2E1E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Rectangle 27"/>
          <p:cNvSpPr/>
          <p:nvPr/>
        </p:nvSpPr>
        <p:spPr>
          <a:xfrm>
            <a:off x="548640" y="3593592"/>
            <a:ext cx="5212080" cy="3175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DBAC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571500" y="3597567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8F0FE"/>
                </a:solidFill>
                <a:latin typeface="Segoe UI"/>
              </a:defRPr>
            </a:pPr>
            <a:r>
              <a:rPr sz="2400" dirty="0"/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675888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0FE"/>
                </a:solidFill>
                <a:latin typeface="Segoe UI"/>
              </a:defRPr>
            </a:pPr>
            <a:r>
              <a:rPr sz="1600"/>
              <a:t>Prompt Version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995928"/>
            <a:ext cx="51206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Segoe UI"/>
              </a:defRPr>
            </a:pPr>
            <a:r>
              <a:rPr sz="1050"/>
              <a:t>chatbot_prompt_versions stores every system prompt with version_tag, AUC score, avg_F1, and is_active flag. A/B test prompts, compare metrics, roll back safely.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846320"/>
            <a:ext cx="1554480" cy="201168"/>
          </a:xfrm>
          <a:prstGeom prst="roundRect">
            <a:avLst>
              <a:gd name="adj" fmla="val 10000"/>
            </a:avLst>
          </a:prstGeom>
          <a:solidFill>
            <a:srgbClr val="0B0714"/>
          </a:solidFill>
          <a:ln w="12700">
            <a:solidFill>
              <a:srgbClr val="22173D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594360" y="4864608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5CF6"/>
                </a:solidFill>
                <a:latin typeface="Consolas"/>
              </a:defRPr>
            </a:pPr>
            <a:r>
              <a:rPr sz="900"/>
              <a:t>auc_score tracked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0" y="4846320"/>
            <a:ext cx="1554480" cy="201168"/>
          </a:xfrm>
          <a:prstGeom prst="roundRect">
            <a:avLst>
              <a:gd name="adj" fmla="val 10000"/>
            </a:avLst>
          </a:prstGeom>
          <a:solidFill>
            <a:srgbClr val="0B0714"/>
          </a:solidFill>
          <a:ln w="12700">
            <a:solidFill>
              <a:srgbClr val="22173D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2286000" y="4864608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5CF6"/>
                </a:solidFill>
                <a:latin typeface="Consolas"/>
              </a:defRPr>
            </a:pPr>
            <a:r>
              <a:rPr sz="900"/>
              <a:t>avg_f1 per version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77640" y="4846320"/>
            <a:ext cx="1554480" cy="201168"/>
          </a:xfrm>
          <a:prstGeom prst="roundRect">
            <a:avLst>
              <a:gd name="adj" fmla="val 10000"/>
            </a:avLst>
          </a:prstGeom>
          <a:solidFill>
            <a:srgbClr val="0B0714"/>
          </a:solidFill>
          <a:ln w="12700">
            <a:solidFill>
              <a:srgbClr val="22173D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TextBox 36"/>
          <p:cNvSpPr txBox="1"/>
          <p:nvPr/>
        </p:nvSpPr>
        <p:spPr>
          <a:xfrm>
            <a:off x="3977640" y="4864608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8B5CF6"/>
                </a:solidFill>
                <a:latin typeface="Consolas"/>
              </a:defRPr>
            </a:pPr>
            <a:r>
              <a:rPr sz="900"/>
              <a:t>is_active flag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0760" y="3538728"/>
            <a:ext cx="5394960" cy="1600200"/>
          </a:xfrm>
          <a:prstGeom prst="roundRect">
            <a:avLst>
              <a:gd name="adj" fmla="val 5000"/>
            </a:avLst>
          </a:prstGeom>
          <a:solidFill>
            <a:srgbClr val="100B03"/>
          </a:solidFill>
          <a:ln w="12700">
            <a:solidFill>
              <a:srgbClr val="513403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Rectangle 38"/>
          <p:cNvSpPr/>
          <p:nvPr/>
        </p:nvSpPr>
        <p:spPr>
          <a:xfrm>
            <a:off x="6172200" y="3593592"/>
            <a:ext cx="5212080" cy="31750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FFEE5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TextBox 39"/>
          <p:cNvSpPr txBox="1"/>
          <p:nvPr/>
        </p:nvSpPr>
        <p:spPr>
          <a:xfrm>
            <a:off x="6172200" y="3568753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8F0FE"/>
                </a:solidFill>
                <a:latin typeface="Segoe UI"/>
              </a:defRPr>
            </a:pPr>
            <a:r>
              <a:rPr sz="2400" dirty="0"/>
              <a:t>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3675888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0FE"/>
                </a:solidFill>
                <a:latin typeface="Segoe UI"/>
              </a:defRPr>
            </a:pPr>
            <a:r>
              <a:rPr sz="1600"/>
              <a:t>Hallucination Detection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995928"/>
            <a:ext cx="51206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Segoe UI"/>
              </a:defRPr>
            </a:pPr>
            <a:r>
              <a:rPr sz="1050"/>
              <a:t>retrieval_log captures every RAG call: retrieved_doc_ids, generated_sql, sql_valid, hallucination_flag, confidence_score, latency_ms. Monitor fabricated patterns.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846320"/>
            <a:ext cx="1554480" cy="201168"/>
          </a:xfrm>
          <a:prstGeom prst="roundRect">
            <a:avLst>
              <a:gd name="adj" fmla="val 10000"/>
            </a:avLst>
          </a:prstGeom>
          <a:solidFill>
            <a:srgbClr val="140D00"/>
          </a:solidFill>
          <a:ln w="12700">
            <a:solidFill>
              <a:srgbClr val="3D270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TextBox 43"/>
          <p:cNvSpPr txBox="1"/>
          <p:nvPr/>
        </p:nvSpPr>
        <p:spPr>
          <a:xfrm>
            <a:off x="6217920" y="4864608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59E0B"/>
                </a:solidFill>
                <a:latin typeface="Consolas"/>
              </a:defRPr>
            </a:pPr>
            <a:r>
              <a:rPr sz="900"/>
              <a:t>hallucination_flag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09560" y="4846320"/>
            <a:ext cx="1554480" cy="201168"/>
          </a:xfrm>
          <a:prstGeom prst="roundRect">
            <a:avLst>
              <a:gd name="adj" fmla="val 10000"/>
            </a:avLst>
          </a:prstGeom>
          <a:solidFill>
            <a:srgbClr val="140D00"/>
          </a:solidFill>
          <a:ln w="12700">
            <a:solidFill>
              <a:srgbClr val="3D270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6" name="TextBox 45"/>
          <p:cNvSpPr txBox="1"/>
          <p:nvPr/>
        </p:nvSpPr>
        <p:spPr>
          <a:xfrm>
            <a:off x="7909560" y="4864608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59E0B"/>
                </a:solidFill>
                <a:latin typeface="Consolas"/>
              </a:defRPr>
            </a:pPr>
            <a:r>
              <a:rPr sz="900"/>
              <a:t>confidence_score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01200" y="4846320"/>
            <a:ext cx="1554480" cy="201168"/>
          </a:xfrm>
          <a:prstGeom prst="roundRect">
            <a:avLst>
              <a:gd name="adj" fmla="val 10000"/>
            </a:avLst>
          </a:prstGeom>
          <a:solidFill>
            <a:srgbClr val="140D00"/>
          </a:solidFill>
          <a:ln w="12700">
            <a:solidFill>
              <a:srgbClr val="3D270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8" name="TextBox 47"/>
          <p:cNvSpPr txBox="1"/>
          <p:nvPr/>
        </p:nvSpPr>
        <p:spPr>
          <a:xfrm>
            <a:off x="9601200" y="4864608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59E0B"/>
                </a:solidFill>
                <a:latin typeface="Consolas"/>
              </a:defRPr>
            </a:pPr>
            <a:r>
              <a:rPr sz="900"/>
              <a:t>latency_ms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248656"/>
            <a:ext cx="5394960" cy="1600200"/>
          </a:xfrm>
          <a:prstGeom prst="roundRect">
            <a:avLst>
              <a:gd name="adj" fmla="val 5000"/>
            </a:avLst>
          </a:prstGeom>
          <a:solidFill>
            <a:srgbClr val="030D0E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48640" y="5303520"/>
            <a:ext cx="5212080" cy="3175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100000">
                <a:srgbClr val="56FF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1" name="TextBox 50"/>
          <p:cNvSpPr txBox="1"/>
          <p:nvPr/>
        </p:nvSpPr>
        <p:spPr>
          <a:xfrm>
            <a:off x="594360" y="5310783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8F0FE"/>
                </a:solidFill>
                <a:latin typeface="Segoe UI"/>
              </a:defRPr>
            </a:pPr>
            <a:r>
              <a:rPr sz="2400" dirty="0"/>
              <a:t>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5385816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0FE"/>
                </a:solidFill>
                <a:latin typeface="Segoe UI"/>
              </a:defRPr>
            </a:pPr>
            <a:r>
              <a:rPr sz="1600" dirty="0"/>
              <a:t>Retrieval Cache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5705856"/>
            <a:ext cx="512064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Segoe UI"/>
              </a:defRPr>
            </a:pPr>
            <a:r>
              <a:rPr sz="1050"/>
              <a:t>retrieval_cache stores query_hash → result_json. Identical questions skip embedding + search. Cache TTL via expires_at. hit_count tracks popularity. Reduces Jina API costs.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4360" y="6556248"/>
            <a:ext cx="1554480" cy="201168"/>
          </a:xfrm>
          <a:prstGeom prst="roundRect">
            <a:avLst>
              <a:gd name="adj" fmla="val 10000"/>
            </a:avLst>
          </a:prstGeom>
          <a:solidFill>
            <a:srgbClr val="000F11"/>
          </a:solidFill>
          <a:ln w="12700">
            <a:solidFill>
              <a:srgbClr val="012D35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5" name="TextBox 54"/>
          <p:cNvSpPr txBox="1"/>
          <p:nvPr/>
        </p:nvSpPr>
        <p:spPr>
          <a:xfrm>
            <a:off x="594360" y="6574536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6B6D4"/>
                </a:solidFill>
                <a:latin typeface="Consolas"/>
              </a:defRPr>
            </a:pPr>
            <a:r>
              <a:rPr sz="900"/>
              <a:t>query_hash dedup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286000" y="6556248"/>
            <a:ext cx="1554480" cy="201168"/>
          </a:xfrm>
          <a:prstGeom prst="roundRect">
            <a:avLst>
              <a:gd name="adj" fmla="val 10000"/>
            </a:avLst>
          </a:prstGeom>
          <a:solidFill>
            <a:srgbClr val="000F11"/>
          </a:solidFill>
          <a:ln w="12700">
            <a:solidFill>
              <a:srgbClr val="012D35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7" name="TextBox 56"/>
          <p:cNvSpPr txBox="1"/>
          <p:nvPr/>
        </p:nvSpPr>
        <p:spPr>
          <a:xfrm>
            <a:off x="2286000" y="6574536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6B6D4"/>
                </a:solidFill>
                <a:latin typeface="Consolas"/>
              </a:defRPr>
            </a:pPr>
            <a:r>
              <a:rPr sz="900"/>
              <a:t>hit_count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977640" y="6556248"/>
            <a:ext cx="1554480" cy="201168"/>
          </a:xfrm>
          <a:prstGeom prst="roundRect">
            <a:avLst>
              <a:gd name="adj" fmla="val 10000"/>
            </a:avLst>
          </a:prstGeom>
          <a:solidFill>
            <a:srgbClr val="000F11"/>
          </a:solidFill>
          <a:ln w="12700">
            <a:solidFill>
              <a:srgbClr val="012D35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9" name="TextBox 58"/>
          <p:cNvSpPr txBox="1"/>
          <p:nvPr/>
        </p:nvSpPr>
        <p:spPr>
          <a:xfrm>
            <a:off x="3977640" y="6574536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06B6D4"/>
                </a:solidFill>
                <a:latin typeface="Consolas"/>
              </a:defRPr>
            </a:pPr>
            <a:r>
              <a:rPr sz="900"/>
              <a:t>expires_at TTL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80760" y="5248656"/>
            <a:ext cx="5394960" cy="1600200"/>
          </a:xfrm>
          <a:prstGeom prst="roundRect">
            <a:avLst>
              <a:gd name="adj" fmla="val 5000"/>
            </a:avLst>
          </a:prstGeom>
          <a:solidFill>
            <a:srgbClr val="100606"/>
          </a:solidFill>
          <a:ln w="12700">
            <a:solidFill>
              <a:srgbClr val="4F161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172200" y="5303520"/>
            <a:ext cx="5212080" cy="31750"/>
          </a:xfrm>
          <a:prstGeom prst="rect">
            <a:avLst/>
          </a:prstGeom>
          <a:gradFill rotWithShape="1">
            <a:gsLst>
              <a:gs pos="0">
                <a:srgbClr val="EF4444"/>
              </a:gs>
              <a:gs pos="100000">
                <a:srgbClr val="FF949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2" name="TextBox 61"/>
          <p:cNvSpPr txBox="1"/>
          <p:nvPr/>
        </p:nvSpPr>
        <p:spPr>
          <a:xfrm>
            <a:off x="6197764" y="5248656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8F0FE"/>
                </a:solidFill>
                <a:latin typeface="Segoe UI"/>
              </a:defRPr>
            </a:pPr>
            <a:r>
              <a:rPr sz="2400" dirty="0"/>
              <a:t>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29400" y="5385816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0FE"/>
                </a:solidFill>
                <a:latin typeface="Segoe UI"/>
              </a:defRPr>
            </a:pPr>
            <a:r>
              <a:rPr sz="1600"/>
              <a:t>Read-Only Security Role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5705856"/>
            <a:ext cx="512064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Segoe UI"/>
              </a:defRPr>
            </a:pPr>
            <a:r>
              <a:rPr sz="1050"/>
              <a:t>chatbot_readonly role: SELECT-only + INSERT on conversation/log tables. 15s statement timeout. 30s idle transaction timeout. No access to ml_output internals or marketing PII.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0" y="6556248"/>
            <a:ext cx="1554480" cy="201168"/>
          </a:xfrm>
          <a:prstGeom prst="roundRect">
            <a:avLst>
              <a:gd name="adj" fmla="val 10000"/>
            </a:avLst>
          </a:prstGeom>
          <a:solidFill>
            <a:srgbClr val="130505"/>
          </a:solidFill>
          <a:ln w="12700">
            <a:solidFill>
              <a:srgbClr val="3B1111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6" name="TextBox 65"/>
          <p:cNvSpPr txBox="1"/>
          <p:nvPr/>
        </p:nvSpPr>
        <p:spPr>
          <a:xfrm>
            <a:off x="6217920" y="6574536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EF4444"/>
                </a:solidFill>
                <a:latin typeface="Consolas"/>
              </a:defRPr>
            </a:pPr>
            <a:r>
              <a:rPr sz="900"/>
              <a:t>statement_timeout 15s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909560" y="6556248"/>
            <a:ext cx="1554480" cy="201168"/>
          </a:xfrm>
          <a:prstGeom prst="roundRect">
            <a:avLst>
              <a:gd name="adj" fmla="val 10000"/>
            </a:avLst>
          </a:prstGeom>
          <a:solidFill>
            <a:srgbClr val="130505"/>
          </a:solidFill>
          <a:ln w="12700">
            <a:solidFill>
              <a:srgbClr val="3B1111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8" name="TextBox 67"/>
          <p:cNvSpPr txBox="1"/>
          <p:nvPr/>
        </p:nvSpPr>
        <p:spPr>
          <a:xfrm>
            <a:off x="7909560" y="6574536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EF4444"/>
                </a:solidFill>
                <a:latin typeface="Consolas"/>
              </a:defRPr>
            </a:pPr>
            <a:r>
              <a:rPr sz="900"/>
              <a:t>SELECT only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01200" y="6556248"/>
            <a:ext cx="1554480" cy="201168"/>
          </a:xfrm>
          <a:prstGeom prst="roundRect">
            <a:avLst>
              <a:gd name="adj" fmla="val 10000"/>
            </a:avLst>
          </a:prstGeom>
          <a:solidFill>
            <a:srgbClr val="130505"/>
          </a:solidFill>
          <a:ln w="12700">
            <a:solidFill>
              <a:srgbClr val="3B1111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0" name="TextBox 69"/>
          <p:cNvSpPr txBox="1"/>
          <p:nvPr/>
        </p:nvSpPr>
        <p:spPr>
          <a:xfrm>
            <a:off x="9601200" y="6574536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EF4444"/>
                </a:solidFill>
                <a:latin typeface="Consolas"/>
              </a:defRPr>
            </a:pPr>
            <a:r>
              <a:rPr sz="900"/>
              <a:t>PII protected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B6D4"/>
                </a:solidFill>
                <a:latin typeface="Consolas"/>
              </a:defRPr>
            </a:pPr>
            <a:r>
              <a:rPr sz="1600" dirty="0"/>
              <a:t>08 —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8F0FE"/>
                </a:solidFill>
                <a:latin typeface="Segoe UI"/>
              </a:defRPr>
            </a:pPr>
            <a:r>
              <a:rPr sz="4400" dirty="0"/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234440"/>
            <a:ext cx="6400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FA3"/>
                </a:solidFill>
                <a:latin typeface="Segoe UI"/>
              </a:defRPr>
            </a:pPr>
            <a:r>
              <a:rPr dirty="0"/>
              <a:t>The infrastructure is production-ready. These phases take it from a data project to an enterprise revenue intelligence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38100" cy="475488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8B5CF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810512"/>
            <a:ext cx="411480" cy="411480"/>
          </a:xfrm>
          <a:prstGeom prst="ellipse">
            <a:avLst/>
          </a:prstGeom>
          <a:solidFill>
            <a:srgbClr val="082A1E"/>
          </a:solidFill>
          <a:ln w="25400">
            <a:solidFill>
              <a:srgbClr val="10B981"/>
            </a:solidFill>
          </a:ln>
          <a:effectLst>
            <a:glow rad="127000">
              <a:srgbClr val="10B981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rPr sz="1400"/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55648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6B6D4"/>
                </a:solidFill>
                <a:latin typeface="Consolas"/>
              </a:defRPr>
            </a:pPr>
            <a:r>
              <a:rPr sz="1200"/>
              <a:t>Phase 1 —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3852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F0FE"/>
                </a:solidFill>
                <a:latin typeface="Segoe UI"/>
              </a:defRPr>
            </a:pPr>
            <a:r>
              <a:t>Core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94560"/>
            <a:ext cx="685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Segoe UI"/>
              </a:defRPr>
            </a:pPr>
            <a:r>
              <a:rPr sz="1200"/>
              <a:t>PostgreSQL schema design, CSV data ingestion, ML anomaly scoring (Isolation Forest + LOF ensemble), materialized views, RAG document population, Jina embedding pipeline with typed routing.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1828800"/>
            <a:ext cx="1371600" cy="292608"/>
          </a:xfrm>
          <a:prstGeom prst="roundRect">
            <a:avLst>
              <a:gd name="adj" fmla="val 10000"/>
            </a:avLst>
          </a:prstGeom>
          <a:solidFill>
            <a:srgbClr val="03120C"/>
          </a:solidFill>
          <a:ln w="12700">
            <a:solidFill>
              <a:srgbClr val="145C40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9601200" y="1856232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B981"/>
                </a:solidFill>
                <a:latin typeface="Consolas"/>
              </a:defRPr>
            </a:pPr>
            <a:r>
              <a:rPr sz="1200"/>
              <a:t>SHIPPED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770632"/>
            <a:ext cx="411480" cy="411480"/>
          </a:xfrm>
          <a:prstGeom prst="ellipse">
            <a:avLst/>
          </a:prstGeom>
          <a:solidFill>
            <a:srgbClr val="101F36"/>
          </a:solidFill>
          <a:ln w="25400">
            <a:solidFill>
              <a:srgbClr val="3B82F6"/>
            </a:solidFill>
          </a:ln>
          <a:effectLst>
            <a:glow rad="127000">
              <a:srgbClr val="3B82F6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914400" y="2807208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B82F6"/>
                </a:solidFill>
                <a:latin typeface="Segoe UI"/>
              </a:defRPr>
            </a:pPr>
            <a:r>
              <a:rPr sz="1400"/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715768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6B6D4"/>
                </a:solidFill>
                <a:latin typeface="Consolas"/>
              </a:defRPr>
            </a:pPr>
            <a:r>
              <a:rPr sz="1200"/>
              <a:t>Phase 2 — 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9864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F0FE"/>
                </a:solidFill>
                <a:latin typeface="Segoe UI"/>
              </a:defRPr>
            </a:pPr>
            <a:r>
              <a:t>Chatbot Agent + Text-to-SQL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54680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Segoe UI"/>
              </a:defRPr>
            </a:pPr>
            <a:r>
              <a:rPr sz="1200"/>
              <a:t>Wire the RAG retrieval pipeline to an LLM (Claude / GPT-4). Implement SQL generation with schema context injection, sql_guard validation, and full session logging to chatbot_conversations.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2788920"/>
            <a:ext cx="1371600" cy="292608"/>
          </a:xfrm>
          <a:prstGeom prst="roundRect">
            <a:avLst>
              <a:gd name="adj" fmla="val 10000"/>
            </a:avLst>
          </a:prstGeom>
          <a:solidFill>
            <a:srgbClr val="050D18"/>
          </a:solidFill>
          <a:ln w="12700">
            <a:solidFill>
              <a:srgbClr val="1D417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/>
          <p:cNvSpPr txBox="1"/>
          <p:nvPr/>
        </p:nvSpPr>
        <p:spPr>
          <a:xfrm>
            <a:off x="9601200" y="2816352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B82F6"/>
                </a:solidFill>
                <a:latin typeface="Consolas"/>
              </a:defRPr>
            </a:pPr>
            <a:r>
              <a:rPr lang="en-US" sz="1200" dirty="0"/>
              <a:t>In progress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3730752"/>
            <a:ext cx="411480" cy="411480"/>
          </a:xfrm>
          <a:prstGeom prst="ellipse">
            <a:avLst/>
          </a:prstGeom>
          <a:solidFill>
            <a:srgbClr val="201736"/>
          </a:solidFill>
          <a:ln w="25400">
            <a:solidFill>
              <a:srgbClr val="8B5CF6"/>
            </a:solidFill>
          </a:ln>
          <a:effectLst>
            <a:glow rad="127000">
              <a:srgbClr val="8B5CF6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TextBox 20"/>
          <p:cNvSpPr txBox="1"/>
          <p:nvPr/>
        </p:nvSpPr>
        <p:spPr>
          <a:xfrm>
            <a:off x="914400" y="3767328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B5CF6"/>
                </a:solidFill>
                <a:latin typeface="Segoe UI"/>
              </a:defRPr>
            </a:pPr>
            <a:r>
              <a:rPr sz="1400"/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675888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6B6D4"/>
                </a:solidFill>
                <a:latin typeface="Consolas"/>
              </a:defRPr>
            </a:pPr>
            <a:r>
              <a:rPr sz="1200"/>
              <a:t>Phase 3 — Planned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85876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F0FE"/>
                </a:solidFill>
                <a:latin typeface="Segoe UI"/>
              </a:defRPr>
            </a:pPr>
            <a:r>
              <a:t>Real-Time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114800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Segoe UI"/>
              </a:defRPr>
            </a:pPr>
            <a:r>
              <a:rPr sz="1200"/>
              <a:t>Build a Streamlit or Next.js dashboard consuming the materialized views. Live leakage rate, revenue-at-risk gauge, top anomalous orders table, seller risk heatmap. Auto-refresh via pg_cron.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3749040"/>
            <a:ext cx="1371600" cy="292608"/>
          </a:xfrm>
          <a:prstGeom prst="roundRect">
            <a:avLst>
              <a:gd name="adj" fmla="val 10000"/>
            </a:avLst>
          </a:prstGeom>
          <a:solidFill>
            <a:srgbClr val="0D0918"/>
          </a:solidFill>
          <a:ln w="12700">
            <a:solidFill>
              <a:srgbClr val="452E7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TextBox 25"/>
          <p:cNvSpPr txBox="1"/>
          <p:nvPr/>
        </p:nvSpPr>
        <p:spPr>
          <a:xfrm>
            <a:off x="9601200" y="3776472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B5CF6"/>
                </a:solidFill>
                <a:latin typeface="Consolas"/>
              </a:defRPr>
            </a:pPr>
            <a:r>
              <a:rPr sz="1200" dirty="0"/>
              <a:t>PLANNED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4690872"/>
            <a:ext cx="411480" cy="411480"/>
          </a:xfrm>
          <a:prstGeom prst="ellipse">
            <a:avLst/>
          </a:prstGeom>
          <a:solidFill>
            <a:srgbClr val="362407"/>
          </a:solidFill>
          <a:ln w="25400">
            <a:solidFill>
              <a:srgbClr val="F59E0B"/>
            </a:solidFill>
          </a:ln>
          <a:effectLst>
            <a:glow rad="127000">
              <a:srgbClr val="F59E0B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914400" y="4727448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rPr sz="1400"/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636008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6B6D4"/>
                </a:solidFill>
                <a:latin typeface="Consolas"/>
              </a:defRPr>
            </a:pPr>
            <a:r>
              <a:rPr sz="1200"/>
              <a:t>Phase 4 — 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81888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F0FE"/>
                </a:solidFill>
                <a:latin typeface="Segoe UI"/>
              </a:defRPr>
            </a:pPr>
            <a:r>
              <a:t>Automated Alerting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074920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Segoe UI"/>
              </a:defRPr>
            </a:pPr>
            <a:r>
              <a:rPr sz="1200"/>
              <a:t>PostgreSQL NOTIFY/LISTEN for real-time leakage detection triggers. Webhook integration to Slack/email when Critical risk tier orders are scored. Configurable thresholds per scenario.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4709160"/>
            <a:ext cx="1371600" cy="292608"/>
          </a:xfrm>
          <a:prstGeom prst="roundRect">
            <a:avLst>
              <a:gd name="adj" fmla="val 10000"/>
            </a:avLst>
          </a:prstGeom>
          <a:solidFill>
            <a:srgbClr val="180F03"/>
          </a:solidFill>
          <a:ln w="12700">
            <a:solidFill>
              <a:srgbClr val="7A4F14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3" name="TextBox 32"/>
          <p:cNvSpPr txBox="1"/>
          <p:nvPr/>
        </p:nvSpPr>
        <p:spPr>
          <a:xfrm>
            <a:off x="9601200" y="4736592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rPr lang="en-US" sz="1200" dirty="0"/>
              <a:t>FUTURE</a:t>
            </a:r>
            <a:endParaRPr sz="1200" dirty="0"/>
          </a:p>
        </p:txBody>
      </p:sp>
      <p:sp>
        <p:nvSpPr>
          <p:cNvPr id="34" name="Oval 33"/>
          <p:cNvSpPr/>
          <p:nvPr/>
        </p:nvSpPr>
        <p:spPr>
          <a:xfrm>
            <a:off x="914400" y="5650992"/>
            <a:ext cx="411480" cy="411480"/>
          </a:xfrm>
          <a:prstGeom prst="ellipse">
            <a:avLst/>
          </a:prstGeom>
          <a:solidFill>
            <a:srgbClr val="1A1E25"/>
          </a:solidFill>
          <a:ln w="25400">
            <a:solidFill>
              <a:srgbClr val="6B7FA3"/>
            </a:solidFill>
          </a:ln>
          <a:effectLst>
            <a:glow rad="127000">
              <a:srgbClr val="6B7FA3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5" name="TextBox 34"/>
          <p:cNvSpPr txBox="1"/>
          <p:nvPr/>
        </p:nvSpPr>
        <p:spPr>
          <a:xfrm>
            <a:off x="914400" y="5687568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FA3"/>
                </a:solidFill>
                <a:latin typeface="Segoe UI"/>
              </a:defRPr>
            </a:pPr>
            <a:r>
              <a:rPr sz="1400"/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5596128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6B6D4"/>
                </a:solidFill>
                <a:latin typeface="Consolas"/>
              </a:defRPr>
            </a:pPr>
            <a:r>
              <a:rPr sz="1200"/>
              <a:t>Phase 5 — Future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577900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F0FE"/>
                </a:solidFill>
                <a:latin typeface="Segoe UI"/>
              </a:defRPr>
            </a:pPr>
            <a:r>
              <a:t>Multi-Tenant + SaaS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6035040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Segoe UI"/>
              </a:defRPr>
            </a:pPr>
            <a:r>
              <a:rPr sz="1200"/>
              <a:t>Row-level security for multi-tenant isolation. Per-tenant embedding namespaces. Usage-based billing. OpenAPI spec. Horizontal scaling via Citus or read replicas.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200" y="5669280"/>
            <a:ext cx="1371600" cy="292608"/>
          </a:xfrm>
          <a:prstGeom prst="roundRect">
            <a:avLst>
              <a:gd name="adj" fmla="val 10000"/>
            </a:avLst>
          </a:prstGeom>
          <a:solidFill>
            <a:srgbClr val="0A0C10"/>
          </a:solidFill>
          <a:ln w="12700">
            <a:solidFill>
              <a:srgbClr val="353F51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0" name="TextBox 39"/>
          <p:cNvSpPr txBox="1"/>
          <p:nvPr/>
        </p:nvSpPr>
        <p:spPr>
          <a:xfrm>
            <a:off x="9601200" y="5696712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B7FA3"/>
                </a:solidFill>
                <a:latin typeface="Consolas"/>
              </a:defRPr>
            </a:pPr>
            <a:r>
              <a:rPr sz="1200" dirty="0"/>
              <a:t>FUTURE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828800" y="274320"/>
            <a:ext cx="8229600" cy="5486400"/>
          </a:xfrm>
          <a:prstGeom prst="ellipse">
            <a:avLst/>
          </a:prstGeom>
          <a:solidFill>
            <a:srgbClr val="08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E8F0FE"/>
                </a:solidFill>
                <a:latin typeface="Segoe UI"/>
              </a:defRPr>
            </a:pPr>
            <a:r>
              <a:t>Built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3B82F6"/>
                </a:solidFill>
                <a:latin typeface="Segoe UI"/>
              </a:rPr>
              <a:t>Production.</a:t>
            </a:r>
            <a:r>
              <a:rPr sz="4800" b="1">
                <a:solidFill>
                  <a:srgbClr val="06B6D4"/>
                </a:solidFill>
                <a:latin typeface="Segoe UI"/>
              </a:rPr>
              <a:t> Designed for </a:t>
            </a:r>
            <a:r>
              <a:rPr sz="4800" b="1">
                <a:solidFill>
                  <a:srgbClr val="8B5CF6"/>
                </a:solidFill>
                <a:latin typeface="Segoe UI"/>
              </a:rPr>
              <a:t>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6118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FA3"/>
                </a:solidFill>
                <a:latin typeface="Segoe UI"/>
              </a:defRPr>
            </a:pPr>
            <a:r>
              <a:rPr dirty="0"/>
              <a:t>A single PostgreSQL instance with </a:t>
            </a:r>
            <a:r>
              <a:rPr dirty="0" err="1"/>
              <a:t>pgvector</a:t>
            </a:r>
            <a:r>
              <a:rPr dirty="0"/>
              <a:t> delivers what traditionally required a data warehouse, a vector database, an ML pipeline, and a separate chatbot service. One container. One source of truth.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0624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060A10"/>
          </a:solidFill>
          <a:ln w="12700">
            <a:solidFill>
              <a:srgbClr val="132B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51560" y="4279392"/>
            <a:ext cx="2011680" cy="3175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8BD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B82F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t>Schemas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20624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030D0E"/>
          </a:solidFill>
          <a:ln w="12700">
            <a:solidFill>
              <a:srgbClr val="023C46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03320" y="4279392"/>
            <a:ext cx="2011680" cy="3175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100000">
                <a:srgbClr val="56FF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6B6D4"/>
                </a:solidFill>
                <a:latin typeface="Segoe UI"/>
              </a:defRPr>
            </a:pPr>
            <a:r>
              <a:t>2.9M+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937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t>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0624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0A0810"/>
          </a:solidFill>
          <a:ln w="12700">
            <a:solidFill>
              <a:srgbClr val="2E1E52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4279392"/>
            <a:ext cx="2011680" cy="3175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DBAC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8B5CF6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937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t>Leakage Types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420624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030D0A"/>
          </a:solidFill>
          <a:ln w="12700">
            <a:solidFill>
              <a:srgbClr val="053D2B"/>
            </a:solidFill>
          </a:ln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06840" y="4279392"/>
            <a:ext cx="2011680" cy="31750"/>
          </a:xfrm>
          <a:prstGeom prst="rect">
            <a:avLst/>
          </a:prstGeom>
          <a:gradFill rotWithShape="1">
            <a:gsLst>
              <a:gs pos="0">
                <a:srgbClr val="10B981"/>
              </a:gs>
              <a:gs pos="100000">
                <a:srgbClr val="60FFD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0B981"/>
                </a:solidFill>
                <a:latin typeface="Segoe UI"/>
              </a:defRPr>
            </a:pPr>
            <a:r>
              <a:t>1024d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937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FA3"/>
                </a:solidFill>
                <a:latin typeface="Consolas"/>
              </a:defRPr>
            </a:pPr>
            <a:r>
              <a:t>Vector 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76072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FA3"/>
                </a:solidFill>
                <a:latin typeface="Consolas"/>
              </a:defRPr>
            </a:pPr>
            <a:r>
              <a:t>pgvector RAG — Revenue Intelligence System  |  PostgreSQL 17 + pgvector + Jina AI  |  v3.1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4284</Words>
  <Application>Microsoft Office PowerPoint</Application>
  <PresentationFormat>Widescreen</PresentationFormat>
  <Paragraphs>1144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waleed ezzat</cp:lastModifiedBy>
  <cp:revision>7</cp:revision>
  <dcterms:created xsi:type="dcterms:W3CDTF">2013-01-27T09:14:16Z</dcterms:created>
  <dcterms:modified xsi:type="dcterms:W3CDTF">2026-05-24T01:48:49Z</dcterms:modified>
  <cp:category/>
</cp:coreProperties>
</file>